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1" r:id="rId3"/>
    <p:sldId id="260" r:id="rId4"/>
    <p:sldId id="262" r:id="rId5"/>
    <p:sldId id="270" r:id="rId6"/>
    <p:sldId id="258" r:id="rId7"/>
    <p:sldId id="275" r:id="rId8"/>
    <p:sldId id="267" r:id="rId9"/>
    <p:sldId id="269" r:id="rId10"/>
    <p:sldId id="268" r:id="rId11"/>
    <p:sldId id="271" r:id="rId12"/>
    <p:sldId id="264" r:id="rId13"/>
    <p:sldId id="265" r:id="rId14"/>
    <p:sldId id="266" r:id="rId15"/>
    <p:sldId id="273" r:id="rId16"/>
    <p:sldId id="272" r:id="rId17"/>
    <p:sldId id="274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07" autoAdjust="0"/>
    <p:restoredTop sz="94660"/>
  </p:normalViewPr>
  <p:slideViewPr>
    <p:cSldViewPr snapToGrid="0">
      <p:cViewPr>
        <p:scale>
          <a:sx n="80" d="100"/>
          <a:sy n="80" d="100"/>
        </p:scale>
        <p:origin x="799" y="6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ja-JP"/>
              <a:t>国内電子商取引市場規模（</a:t>
            </a:r>
            <a:r>
              <a:rPr lang="en-US"/>
              <a:t>BtoC</a:t>
            </a:r>
            <a:r>
              <a:rPr lang="ja-JP"/>
              <a:t>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>
        <c:manualLayout>
          <c:layoutTarget val="inner"/>
          <c:xMode val="edge"/>
          <c:yMode val="edge"/>
          <c:x val="0.12109428198909605"/>
          <c:y val="0.12499570709474865"/>
          <c:w val="0.89208562992125984"/>
          <c:h val="0.7316153585374410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物販系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2018年</c:v>
                </c:pt>
                <c:pt idx="1">
                  <c:v>2019年</c:v>
                </c:pt>
                <c:pt idx="2">
                  <c:v>2020年</c:v>
                </c:pt>
                <c:pt idx="3">
                  <c:v>2021年</c:v>
                </c:pt>
                <c:pt idx="4">
                  <c:v>2022年</c:v>
                </c:pt>
                <c:pt idx="5">
                  <c:v>2023年</c:v>
                </c:pt>
                <c:pt idx="6">
                  <c:v>2024年</c:v>
                </c:pt>
              </c:strCache>
            </c:strRef>
          </c:cat>
          <c:val>
            <c:numRef>
              <c:f>Sheet1!$B$2:$B$8</c:f>
              <c:numCache>
                <c:formatCode>#,##0_);[Red]\(#,##0\)</c:formatCode>
                <c:ptCount val="7"/>
                <c:pt idx="0">
                  <c:v>92992</c:v>
                </c:pt>
                <c:pt idx="1">
                  <c:v>100515</c:v>
                </c:pt>
                <c:pt idx="2">
                  <c:v>122333</c:v>
                </c:pt>
                <c:pt idx="3">
                  <c:v>132864</c:v>
                </c:pt>
                <c:pt idx="4">
                  <c:v>139997</c:v>
                </c:pt>
                <c:pt idx="5">
                  <c:v>146760</c:v>
                </c:pt>
                <c:pt idx="6">
                  <c:v>152194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CB-404D-8839-A95AA0019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サービス系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2018年</c:v>
                </c:pt>
                <c:pt idx="1">
                  <c:v>2019年</c:v>
                </c:pt>
                <c:pt idx="2">
                  <c:v>2020年</c:v>
                </c:pt>
                <c:pt idx="3">
                  <c:v>2021年</c:v>
                </c:pt>
                <c:pt idx="4">
                  <c:v>2022年</c:v>
                </c:pt>
                <c:pt idx="5">
                  <c:v>2023年</c:v>
                </c:pt>
                <c:pt idx="6">
                  <c:v>2024年</c:v>
                </c:pt>
              </c:strCache>
            </c:strRef>
          </c:cat>
          <c:val>
            <c:numRef>
              <c:f>Sheet1!$C$2:$C$8</c:f>
              <c:numCache>
                <c:formatCode>#,##0_);[Red]\(#,##0\)</c:formatCode>
                <c:ptCount val="7"/>
                <c:pt idx="0">
                  <c:v>66471</c:v>
                </c:pt>
                <c:pt idx="1">
                  <c:v>71672</c:v>
                </c:pt>
                <c:pt idx="2">
                  <c:v>45832</c:v>
                </c:pt>
                <c:pt idx="3">
                  <c:v>46424</c:v>
                </c:pt>
                <c:pt idx="4">
                  <c:v>61477</c:v>
                </c:pt>
                <c:pt idx="5">
                  <c:v>75169</c:v>
                </c:pt>
                <c:pt idx="6">
                  <c:v>82256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CB-404D-8839-A95AA0019B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デジタル系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2018年</c:v>
                </c:pt>
                <c:pt idx="1">
                  <c:v>2019年</c:v>
                </c:pt>
                <c:pt idx="2">
                  <c:v>2020年</c:v>
                </c:pt>
                <c:pt idx="3">
                  <c:v>2021年</c:v>
                </c:pt>
                <c:pt idx="4">
                  <c:v>2022年</c:v>
                </c:pt>
                <c:pt idx="5">
                  <c:v>2023年</c:v>
                </c:pt>
                <c:pt idx="6">
                  <c:v>2024年</c:v>
                </c:pt>
              </c:strCache>
            </c:strRef>
          </c:cat>
          <c:val>
            <c:numRef>
              <c:f>Sheet1!$D$2:$D$8</c:f>
              <c:numCache>
                <c:formatCode>#,##0_);[Red]\(#,##0\)</c:formatCode>
                <c:ptCount val="7"/>
                <c:pt idx="0">
                  <c:v>20382</c:v>
                </c:pt>
                <c:pt idx="1">
                  <c:v>21422</c:v>
                </c:pt>
                <c:pt idx="2">
                  <c:v>24614</c:v>
                </c:pt>
                <c:pt idx="3">
                  <c:v>27661</c:v>
                </c:pt>
                <c:pt idx="4">
                  <c:v>25614</c:v>
                </c:pt>
                <c:pt idx="5">
                  <c:v>26506</c:v>
                </c:pt>
                <c:pt idx="6">
                  <c:v>26776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CB-404D-8839-A95AA0019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80726336"/>
        <c:axId val="680728256"/>
      </c:barChart>
      <c:catAx>
        <c:axId val="680726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80728256"/>
        <c:crosses val="autoZero"/>
        <c:auto val="1"/>
        <c:lblAlgn val="ctr"/>
        <c:lblOffset val="100"/>
        <c:noMultiLvlLbl val="0"/>
      </c:catAx>
      <c:valAx>
        <c:axId val="680728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/>
                  <a:t>億円</a:t>
                </a:r>
              </a:p>
            </c:rich>
          </c:tx>
          <c:layout>
            <c:manualLayout>
              <c:xMode val="edge"/>
              <c:yMode val="edge"/>
              <c:x val="1.9409509402998813E-2"/>
              <c:y val="2.7432028362776775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#,##0_);[Red]\(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80726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ja-JP" sz="1862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倉庫関連職種の有効求人倍率の比較</a:t>
            </a:r>
            <a:endParaRPr lang="ja-JP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9435541268242704"/>
          <c:y val="0.2447846889952153"/>
          <c:w val="0.67213747493536002"/>
          <c:h val="0.5083690615228120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令和2〜3年頃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全職業平均</c:v>
                </c:pt>
                <c:pt idx="1">
                  <c:v>倉庫業全体</c:v>
                </c:pt>
                <c:pt idx="2">
                  <c:v>フォークリフト運転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1.1399999999999999</c:v>
                </c:pt>
                <c:pt idx="1">
                  <c:v>0.83</c:v>
                </c:pt>
                <c:pt idx="2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38-451E-A2CE-F55481AA1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令和7年～8年頃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全職業平均</c:v>
                </c:pt>
                <c:pt idx="1">
                  <c:v>倉庫業全体</c:v>
                </c:pt>
                <c:pt idx="2">
                  <c:v>フォークリフト運転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1.22</c:v>
                </c:pt>
                <c:pt idx="1">
                  <c:v>1.92</c:v>
                </c:pt>
                <c:pt idx="2">
                  <c:v>2.66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38-451E-A2CE-F55481AA195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5603999"/>
        <c:axId val="1195601119"/>
      </c:barChart>
      <c:catAx>
        <c:axId val="11956039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5601119"/>
        <c:crosses val="autoZero"/>
        <c:auto val="1"/>
        <c:lblAlgn val="ctr"/>
        <c:lblOffset val="100"/>
        <c:noMultiLvlLbl val="0"/>
      </c:catAx>
      <c:valAx>
        <c:axId val="11956011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50" dirty="0"/>
                  <a:t>倍率</a:t>
                </a:r>
              </a:p>
            </c:rich>
          </c:tx>
          <c:layout>
            <c:manualLayout>
              <c:xMode val="edge"/>
              <c:yMode val="edge"/>
              <c:x val="0.93374832587816237"/>
              <c:y val="0.8710417059111630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560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896617210442064"/>
          <c:y val="0.85601665222469203"/>
          <c:w val="0.52206747164466205"/>
          <c:h val="0.10170252043853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ja-JP" sz="1400" b="1" i="0" u="none" strike="noStrike" baseline="0" dirty="0">
                <a:solidFill>
                  <a:schemeClr val="tx1"/>
                </a:solidFill>
              </a:rPr>
              <a:t>「運輸業，郵便業」就業者数の推移</a:t>
            </a:r>
            <a:endParaRPr lang="en-US" altLang="ja-JP" sz="1400" b="1" i="0" u="none" strike="noStrike" baseline="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ja-JP" altLang="ja-JP" sz="1400" b="1" i="0" u="none" strike="noStrike" baseline="0" dirty="0">
                <a:solidFill>
                  <a:schemeClr val="tx1"/>
                </a:solidFill>
              </a:rPr>
              <a:t>（直近数年間）</a:t>
            </a:r>
            <a:endParaRPr lang="en-US" altLang="ja-JP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ja-JP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列3</c:v>
                </c:pt>
              </c:strCache>
            </c:strRef>
          </c:tx>
          <c:spPr>
            <a:solidFill>
              <a:schemeClr val="accent2"/>
            </a:solidFill>
            <a:ln w="2540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2023年</c:v>
                </c:pt>
                <c:pt idx="1">
                  <c:v>2024年</c:v>
                </c:pt>
                <c:pt idx="2">
                  <c:v>2025年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349</c:v>
                </c:pt>
                <c:pt idx="1">
                  <c:v>353</c:v>
                </c:pt>
                <c:pt idx="2">
                  <c:v>351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E5-4156-9D1B-74DDAB8D0D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5619359"/>
        <c:axId val="1195618399"/>
      </c:barChart>
      <c:catAx>
        <c:axId val="1195619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5618399"/>
        <c:crosses val="autoZero"/>
        <c:auto val="1"/>
        <c:lblAlgn val="ctr"/>
        <c:lblOffset val="100"/>
        <c:noMultiLvlLbl val="0"/>
      </c:catAx>
      <c:valAx>
        <c:axId val="11956183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33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50" b="1" dirty="0">
                    <a:solidFill>
                      <a:schemeClr val="tx1"/>
                    </a:solidFill>
                  </a:rPr>
                  <a:t>万人</a:t>
                </a:r>
                <a:endParaRPr lang="ja-JP" altLang="en-US" b="1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9.657237293119085E-2"/>
              <c:y val="0.1986315176662426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33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56193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B0BD3-665A-4CD5-BEF8-9DBF5A6379C5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0CE74-EB28-4BE4-AAC1-48E126B88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9565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0CE74-EB28-4BE4-AAC1-48E126B88FE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8032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0CE74-EB28-4BE4-AAC1-48E126B88FE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7340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同時再生は「連続２回エンターキー」を押してください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0CE74-EB28-4BE4-AAC1-48E126B88FEE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4860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6D64E4-CC3F-6910-252B-9A8E6E698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FE5D05-DE2B-2118-6147-36BA77C58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D6E213-EBA2-0B68-CA9B-B4B9A0BD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5A9067-A66D-CC24-2E27-42CEF001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26F24E-2AF9-B0F4-EF27-07788DDB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449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CCD762-8E1D-1DC5-DE30-CB67BC45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2AD25B-CE41-5B04-AA70-5B859705F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B47CFC-4636-B9D6-0178-5A6C3D44F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8E1D1C-1660-8E30-C877-F677DE1DF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07C084-70C2-5650-110A-AF82E24B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18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B8EF86-BCF7-A827-CD07-D7CC22654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7FEC90-B19B-C396-FAA7-EFF4E2F67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1E497F-6674-5F48-47B2-AAB3EEAB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305BD4-7FDC-970E-5C2B-43CD5EBB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D2B555-015D-4E07-DAB6-151D560A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469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B63EE9-7662-CDD0-A506-1C0A0C5C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B56C34-D34F-A6DA-3716-7D17B1E9D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1F7B18-AD0E-5868-6C40-37AFB29EB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141156-63C4-7150-5E2F-B3FF5E12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CE6D5A-529B-0594-7F0A-30A8D40C4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76C21D-3E7B-6494-8227-DD7572FA4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555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F0DFCF-B0E4-9032-61C6-569BDA0D5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C2BB45-E57A-D6F5-D613-AC00AD92D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B61E6E-1AB3-2DBB-02D1-7F063D8F6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FF4DED8-42D3-E2DB-6775-79E690780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4426E5E-83F3-0CEB-2CEF-E57376169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A9A8D9E-9D51-62FD-41A0-15CDB86D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A4C6DFB-F392-CBF4-4ECA-52F1749A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EE7ABFB-4836-37B5-79ED-AE2C2DA9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62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8D8AE2-5DCA-7BC3-3FF1-B3C63D43C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D79036B-2EAD-510D-4E51-C95FDE8DC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8C7BF4-A7BC-1F80-D6B1-1B0D942A9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D7A13C-8F44-A0E5-6B13-0CE89AD39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966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CC0634B-A7CD-CAA5-6992-D237AD404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B2DBC48-E2D6-74D1-FE97-C99EEBA0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A0CD2A-5108-0244-3224-DECCE381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780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FF0FC-01C5-A5EC-9061-81F24B26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1A2C7E-277F-4FF3-A14B-6AF24DA5E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5EEF9B-E537-D7A8-29AC-088B72A48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9E13E1-9676-5CF1-D585-251AE4B23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18A6CD-27CF-8493-8421-8C3146A5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765563-E0A6-8AB7-9D05-2BBF3A3F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578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4E0720-621F-D702-D370-2436000EF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C737819-8551-C3A9-9C0E-CDC4108B3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731597-1E2D-76F8-2A10-9DBFEABA5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B9D76E-8485-1410-7D47-3A214B988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7307CE-4E49-A962-52F0-EB0051F39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D8FB23-E723-10E0-6B11-8B288B4D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67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0EB557-C68F-A768-E6FA-AB43441A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AD9B03-A703-CC85-256D-3834BC3B0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E86702-EED8-7D2A-3421-3B099904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D06F12-6C2C-F877-C198-BAD8B8A9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795203-BED8-2F46-E6AF-A5660922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7640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A788610-F6D5-698F-F515-6459A303D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58C209-9CC8-13A5-433A-B22972511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A456FD-4E36-B18C-CC18-A0929EBC8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009B37-4C24-26C4-E1A9-7039E5803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B76326-B01E-5C05-7A4E-A99C9F3C6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1460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DCF800-2A72-F187-BFD5-2D9924D51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5C080E-7169-3520-28C9-F9A80B452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455B21-8ECC-6D91-300F-532B47B74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54BEA-5139-4109-930D-9FFFDC328563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6A89BA-F913-B431-3CF9-F3363A0E0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EF4848-D574-A304-7EF8-E52DE4C91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359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hyperlink" Target="https://www.wataryu.co.jp/column/kadai2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hyperlink" Target="https://www.meti.go.jp/press/2025/08/20250826005/20250826005.html" TargetMode="External"/><Relationship Id="rId10" Type="http://schemas.openxmlformats.org/officeDocument/2006/relationships/image" Target="../media/image10.png"/><Relationship Id="rId4" Type="http://schemas.openxmlformats.org/officeDocument/2006/relationships/chart" Target="../charts/chart1.xm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hyperlink" Target="https://www.logi-today.com/87630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hart" Target="../charts/chart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gif"/><Relationship Id="rId5" Type="http://schemas.openxmlformats.org/officeDocument/2006/relationships/image" Target="../media/image7.png"/><Relationship Id="rId4" Type="http://schemas.openxmlformats.org/officeDocument/2006/relationships/image" Target="../media/image1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gif"/><Relationship Id="rId5" Type="http://schemas.openxmlformats.org/officeDocument/2006/relationships/image" Target="../media/image7.png"/><Relationship Id="rId4" Type="http://schemas.openxmlformats.org/officeDocument/2006/relationships/image" Target="../media/image15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microsoft.com/office/2007/relationships/media" Target="../media/media2.mp4"/><Relationship Id="rId7" Type="http://schemas.openxmlformats.org/officeDocument/2006/relationships/image" Target="../media/image3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3.xml"/><Relationship Id="rId11" Type="http://schemas.openxmlformats.org/officeDocument/2006/relationships/image" Target="../media/image9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8.png"/><Relationship Id="rId4" Type="http://schemas.openxmlformats.org/officeDocument/2006/relationships/video" Target="../media/media2.mp4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52A35C4-1436-1620-4314-C5B7D7C03F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185F15DC-1374-564D-4EFE-4C4222C41901}"/>
              </a:ext>
            </a:extLst>
          </p:cNvPr>
          <p:cNvSpPr/>
          <p:nvPr/>
        </p:nvSpPr>
        <p:spPr>
          <a:xfrm>
            <a:off x="2473400" y="2215374"/>
            <a:ext cx="9144000" cy="4185980"/>
          </a:xfrm>
          <a:prstGeom prst="roundRect">
            <a:avLst>
              <a:gd name="adj" fmla="val 4835"/>
            </a:avLst>
          </a:prstGeom>
          <a:solidFill>
            <a:schemeClr val="tx2">
              <a:lumMod val="10000"/>
              <a:lumOff val="9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D490038-D730-1034-9DF0-36D369A8F76F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40C164D-4D6A-1F7F-F8C8-DB9E78913B4A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58F7DB4-8EA2-7996-8920-C0234EEF5EBC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9E02A7CE-75A4-E3A1-B48A-D8B1D3560156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3B7159E1-1CB2-30E2-345B-DD5EB878C717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CB5A6250-EB35-1715-0F08-CD68CFC3A605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" name="字幕 2">
            <a:extLst>
              <a:ext uri="{FF2B5EF4-FFF2-40B4-BE49-F238E27FC236}">
                <a16:creationId xmlns:a16="http://schemas.microsoft.com/office/drawing/2014/main" id="{E4A6CE6D-CA36-6966-5BFC-9F3D4A7E0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0013" y="1547465"/>
            <a:ext cx="9144000" cy="422525"/>
          </a:xfrm>
        </p:spPr>
        <p:txBody>
          <a:bodyPr>
            <a:normAutofit/>
          </a:bodyPr>
          <a:lstStyle/>
          <a:p>
            <a:r>
              <a:rPr lang="ja-JP" altLang="ja-JP" b="1" i="0" dirty="0">
                <a:solidFill>
                  <a:srgbClr val="1A1A2E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蟻の群知能で実現する自律移動ロボットの物流最適化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424B3289-0648-D3A7-285C-92CE485C8F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71" t="39912" r="6029" b="37456"/>
          <a:stretch>
            <a:fillRect/>
          </a:stretch>
        </p:blipFill>
        <p:spPr>
          <a:xfrm>
            <a:off x="4095842" y="373290"/>
            <a:ext cx="8132838" cy="1263259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B51F639-40A2-95D3-0D3C-DB8BE8C7B574}"/>
              </a:ext>
            </a:extLst>
          </p:cNvPr>
          <p:cNvSpPr txBox="1"/>
          <p:nvPr/>
        </p:nvSpPr>
        <p:spPr>
          <a:xfrm>
            <a:off x="2766261" y="2615624"/>
            <a:ext cx="665947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</a:t>
            </a:r>
            <a:r>
              <a:rPr kumimoji="1" lang="ja-JP" altLang="en-US" sz="28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社会課題</a:t>
            </a:r>
            <a:endParaRPr kumimoji="1" lang="en-US" altLang="ja-JP" sz="28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r>
              <a:rPr lang="ja-JP" altLang="en-US" sz="20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～物流業界が抱える問題～</a:t>
            </a:r>
            <a:endParaRPr lang="en-US" altLang="ja-JP" sz="20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endParaRPr kumimoji="1" lang="en-US" altLang="ja-JP" sz="24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r>
              <a:rPr lang="ja-JP" altLang="en-US" sz="28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研究内容</a:t>
            </a:r>
            <a:endParaRPr lang="en-US" altLang="ja-JP" sz="28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r>
              <a:rPr lang="ja-JP" altLang="en-US" sz="20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～働きアリの生き方を運搬ロボットに応用～</a:t>
            </a:r>
            <a:endParaRPr lang="en-US" altLang="ja-JP" sz="20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endParaRPr kumimoji="1" lang="en-US" altLang="ja-JP" sz="28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r>
              <a:rPr lang="ja-JP" altLang="en-US" sz="28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　現在の技術的課題と今後の展望</a:t>
            </a:r>
            <a:endParaRPr lang="en-US" altLang="ja-JP" sz="28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endParaRPr lang="en-US" altLang="ja-JP" sz="24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r>
              <a:rPr lang="ja-JP" altLang="en-US" sz="28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</a:t>
            </a:r>
            <a:r>
              <a:rPr kumimoji="1" lang="ja-JP" altLang="en-US" sz="28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質疑応答</a:t>
            </a:r>
            <a:endParaRPr kumimoji="1" lang="en-US" altLang="ja-JP" sz="28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F5C0EA3-FDCA-54A7-C333-1DEF2B294A8E}"/>
              </a:ext>
            </a:extLst>
          </p:cNvPr>
          <p:cNvSpPr txBox="1"/>
          <p:nvPr/>
        </p:nvSpPr>
        <p:spPr>
          <a:xfrm>
            <a:off x="9165849" y="2346708"/>
            <a:ext cx="24173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目次</a:t>
            </a:r>
            <a:endParaRPr lang="en-US" altLang="ja-JP" sz="36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r>
              <a:rPr lang="en-US" altLang="ja-JP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-CONTENTS-</a:t>
            </a:r>
            <a:endParaRPr kumimoji="1" lang="en-US" altLang="ja-JP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</p:txBody>
      </p:sp>
      <p:pic>
        <p:nvPicPr>
          <p:cNvPr id="20" name="図 19" descr="754,800点を超える課題解決のイラスト素材、ロイヤリティフリーのベクター素材グラフィックスとクリップアート - iStock | 問題,  イノベーション, ソリューション">
            <a:extLst>
              <a:ext uri="{FF2B5EF4-FFF2-40B4-BE49-F238E27FC236}">
                <a16:creationId xmlns:a16="http://schemas.microsoft.com/office/drawing/2014/main" id="{E4446F5B-244E-24C4-7CC3-AFF2AB59F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 rot="20173660">
            <a:off x="4667551" y="3441666"/>
            <a:ext cx="964202" cy="964202"/>
          </a:xfrm>
          <a:prstGeom prst="rect">
            <a:avLst/>
          </a:prstGeom>
        </p:spPr>
      </p:pic>
      <p:pic>
        <p:nvPicPr>
          <p:cNvPr id="21" name="図 20" descr="754,800点を超える課題解決のイラスト素材、ロイヤリティフリーのベクター素材グラフィックスとクリップアート - iStock | 問題,  イノベーション, ソリューション">
            <a:extLst>
              <a:ext uri="{FF2B5EF4-FFF2-40B4-BE49-F238E27FC236}">
                <a16:creationId xmlns:a16="http://schemas.microsoft.com/office/drawing/2014/main" id="{03E7E21B-A9BD-F701-1721-CE1644C70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83308" y="5543443"/>
            <a:ext cx="932688" cy="771144"/>
          </a:xfrm>
          <a:prstGeom prst="rect">
            <a:avLst/>
          </a:prstGeom>
        </p:spPr>
      </p:pic>
      <p:pic>
        <p:nvPicPr>
          <p:cNvPr id="22" name="図 21" descr="課題」の写真素材 | 11,386,407件の無料イラスト画像 | Adobe Stock">
            <a:extLst>
              <a:ext uri="{FF2B5EF4-FFF2-40B4-BE49-F238E27FC236}">
                <a16:creationId xmlns:a16="http://schemas.microsoft.com/office/drawing/2014/main" id="{EDB9CF9D-4D9C-FAF8-D451-D21141FBA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477440" y="2346708"/>
            <a:ext cx="1344424" cy="732213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42032A5-872C-D043-8906-AD1216AEEB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6261" y="4751376"/>
            <a:ext cx="1338019" cy="70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70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19062 -0.02593 C -0.19062 0.00718 -0.1638 0.03403 -0.13059 0.03403 C -0.09166 0.03403 -0.0776 0.00417 -0.07161 -0.01389 L -0.06562 -0.03796 C -0.05963 -0.05602 -0.04466 -0.08588 -0.00065 -0.08588 C 0.02735 -0.08588 0.05938 -0.05903 0.05938 -0.02593 C 0.05938 0.00718 0.02735 0.03403 -0.00065 0.03403 C -0.04466 0.03403 -0.05963 0.00417 -0.06562 -0.01389 L -0.07161 -0.03796 C -0.0776 -0.05602 -0.09166 -0.08588 -0.13059 -0.08588 C -0.1638 -0.08588 -0.19062 -0.05903 -0.19062 -0.02593 Z " pathEditMode="relative" rAng="0" ptsTypes="AAAAAAAAAAA">
                                      <p:cBhvr>
                                        <p:cTn id="6" dur="1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6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59 -0.4324 C -0.02721 -0.4324 -0.04232 -0.38449 -0.04232 -0.32569 C -0.04232 -0.25648 -0.02552 -0.23148 -0.01536 -0.22083 L -0.00195 -0.21018 C 0.00833 -0.19953 0.02513 -0.17291 0.02513 -0.09467 C 0.02513 -0.0449 0.01003 0.01204 -0.00859 0.01204 C -0.02721 0.01204 -0.04232 -0.0449 -0.04232 -0.09467 C -0.04232 -0.17291 -0.02552 -0.19953 -0.01536 -0.21018 L -0.00195 -0.22083 C 0.00833 -0.23148 0.02513 -0.25648 0.02513 -0.32569 C 0.02513 -0.38449 0.01003 -0.4324 -0.00859 -0.4324 Z " pathEditMode="relative" rAng="5400000" ptsTypes="AAAAAAAAAAA">
                                      <p:cBhvr>
                                        <p:cTn id="8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図 45" descr="緑の線3 | かわいい手描きの無料イラスト｜商用利用OKのフリー素材｜てがきっず">
            <a:extLst>
              <a:ext uri="{FF2B5EF4-FFF2-40B4-BE49-F238E27FC236}">
                <a16:creationId xmlns:a16="http://schemas.microsoft.com/office/drawing/2014/main" id="{862C35D3-E396-077C-B194-4C29B77AE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177" y="162831"/>
            <a:ext cx="3426472" cy="856618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6A8A47B-E026-D98D-B08C-263C5137B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EDE1ED7-7FA3-AFBE-3E44-0F8DE741D6B9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A5C5542-07AD-3FA2-0F9A-3F53B9EB66E9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EC4B1A0-DCFD-9445-3E06-A86F5D0E0AED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1D01BDD2-D4C1-B237-CFF3-0A84E7C39A58}"/>
              </a:ext>
            </a:extLst>
          </p:cNvPr>
          <p:cNvSpPr/>
          <p:nvPr/>
        </p:nvSpPr>
        <p:spPr>
          <a:xfrm>
            <a:off x="170654" y="1421176"/>
            <a:ext cx="6306346" cy="4841913"/>
          </a:xfrm>
          <a:prstGeom prst="roundRect">
            <a:avLst>
              <a:gd name="adj" fmla="val 4835"/>
            </a:avLst>
          </a:prstGeom>
          <a:solidFill>
            <a:schemeClr val="tx2">
              <a:lumMod val="10000"/>
              <a:lumOff val="9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369C949C-934E-2929-9537-7C3185D47211}"/>
              </a:ext>
            </a:extLst>
          </p:cNvPr>
          <p:cNvGrpSpPr/>
          <p:nvPr/>
        </p:nvGrpSpPr>
        <p:grpSpPr>
          <a:xfrm>
            <a:off x="8271407" y="-1539875"/>
            <a:ext cx="5715000" cy="5715000"/>
            <a:chOff x="0" y="0"/>
            <a:chExt cx="7620000" cy="762000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A742FA75-B1D5-8F64-A414-B30876003A32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1E170328-116E-6BDF-FC76-2E106DECC743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B72A41EB-30ED-E203-9B29-80997C99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649" y="119277"/>
            <a:ext cx="5862128" cy="560426"/>
          </a:xfrm>
        </p:spPr>
        <p:txBody>
          <a:bodyPr>
            <a:noAutofit/>
          </a:bodyPr>
          <a:lstStyle/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１．</a:t>
            </a:r>
            <a:r>
              <a:rPr kumimoji="1"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社会課題 </a:t>
            </a:r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～</a:t>
            </a:r>
            <a:r>
              <a:rPr kumimoji="1"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物流業界が抱える</a:t>
            </a:r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問題</a:t>
            </a:r>
            <a:r>
              <a:rPr kumimoji="1"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～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E95D40-143E-7FD6-D908-3F8661413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09" y="472922"/>
            <a:ext cx="4796928" cy="799526"/>
          </a:xfrm>
        </p:spPr>
        <p:txBody>
          <a:bodyPr>
            <a:normAutofit lnSpcReduction="10000"/>
          </a:bodyPr>
          <a:lstStyle/>
          <a:p>
            <a:pPr>
              <a:buSzPct val="150000"/>
              <a:buBlip>
                <a:blip r:embed="rId3"/>
              </a:buBlip>
            </a:pP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サイト市場の拡大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1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荷物量の増加と労働者にかかる作業量の増加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361F83A-38E3-6A5C-1F3F-94E3B2F91D98}"/>
              </a:ext>
            </a:extLst>
          </p:cNvPr>
          <p:cNvGrpSpPr/>
          <p:nvPr/>
        </p:nvGrpSpPr>
        <p:grpSpPr>
          <a:xfrm>
            <a:off x="170654" y="1593660"/>
            <a:ext cx="6104556" cy="4330298"/>
            <a:chOff x="5111393" y="1683850"/>
            <a:chExt cx="6104556" cy="4330298"/>
          </a:xfrm>
        </p:grpSpPr>
        <p:graphicFrame>
          <p:nvGraphicFramePr>
            <p:cNvPr id="12" name="グラフ 11">
              <a:extLst>
                <a:ext uri="{FF2B5EF4-FFF2-40B4-BE49-F238E27FC236}">
                  <a16:creationId xmlns:a16="http://schemas.microsoft.com/office/drawing/2014/main" id="{33678E59-078F-EB48-24EC-D57471041FB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16942507"/>
                </p:ext>
              </p:extLst>
            </p:nvPr>
          </p:nvGraphicFramePr>
          <p:xfrm>
            <a:off x="5232607" y="1683850"/>
            <a:ext cx="5862128" cy="421963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B8FAA360-1E32-51E6-6748-984B6E360BA4}"/>
                </a:ext>
              </a:extLst>
            </p:cNvPr>
            <p:cNvSpPr txBox="1"/>
            <p:nvPr/>
          </p:nvSpPr>
          <p:spPr>
            <a:xfrm>
              <a:off x="5111393" y="5752538"/>
              <a:ext cx="61045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100" dirty="0">
                  <a:hlinkClick r:id="rId5" tooltip="ソースページへジャンプ"/>
                </a:rPr>
                <a:t>経済産業省</a:t>
              </a:r>
              <a:r>
                <a:rPr lang="en-US" altLang="ja-JP" sz="1100" dirty="0">
                  <a:hlinkClick r:id="rId5" tooltip="ソースページへジャンプ"/>
                </a:rPr>
                <a:t>HP</a:t>
              </a:r>
              <a:r>
                <a:rPr lang="ja-JP" altLang="en-US" sz="1100" dirty="0">
                  <a:hlinkClick r:id="rId5" tooltip="ソースページへジャンプ"/>
                </a:rPr>
                <a:t>より「</a:t>
              </a:r>
              <a:r>
                <a:rPr lang="ja-JP" altLang="ja-JP" sz="1100" dirty="0">
                  <a:hlinkClick r:id="rId5" tooltip="ソースページへジャンプ"/>
                </a:rPr>
                <a:t>令和6年度デジタル取引環境整備事業（電子商取引に関する市場調査）</a:t>
              </a:r>
              <a:r>
                <a:rPr lang="ja-JP" altLang="en-US" sz="1100" dirty="0">
                  <a:hlinkClick r:id="rId5" tooltip="ソースページへジャンプ"/>
                </a:rPr>
                <a:t>」</a:t>
              </a:r>
              <a:endParaRPr kumimoji="1" lang="ja-JP" altLang="en-US" sz="1100" dirty="0"/>
            </a:p>
          </p:txBody>
        </p:sp>
      </p:grpSp>
      <p:sp>
        <p:nvSpPr>
          <p:cNvPr id="15" name="矢印: 右 14">
            <a:extLst>
              <a:ext uri="{FF2B5EF4-FFF2-40B4-BE49-F238E27FC236}">
                <a16:creationId xmlns:a16="http://schemas.microsoft.com/office/drawing/2014/main" id="{D6AF8D89-3239-003A-F5AD-022593413A4C}"/>
              </a:ext>
            </a:extLst>
          </p:cNvPr>
          <p:cNvSpPr/>
          <p:nvPr/>
        </p:nvSpPr>
        <p:spPr>
          <a:xfrm rot="20978785">
            <a:off x="1403956" y="2597423"/>
            <a:ext cx="4378028" cy="13381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5EA82CC9-1B16-CF27-4E9A-757F01D93797}"/>
              </a:ext>
            </a:extLst>
          </p:cNvPr>
          <p:cNvSpPr/>
          <p:nvPr/>
        </p:nvSpPr>
        <p:spPr>
          <a:xfrm>
            <a:off x="6603841" y="872685"/>
            <a:ext cx="5396003" cy="3168463"/>
          </a:xfrm>
          <a:prstGeom prst="roundRect">
            <a:avLst>
              <a:gd name="adj" fmla="val 4835"/>
            </a:avLst>
          </a:prstGeom>
          <a:solidFill>
            <a:schemeClr val="tx2">
              <a:lumMod val="10000"/>
              <a:lumOff val="9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45C227F0-D2F0-53A4-BFD5-14962AC034C9}"/>
              </a:ext>
            </a:extLst>
          </p:cNvPr>
          <p:cNvGrpSpPr/>
          <p:nvPr/>
        </p:nvGrpSpPr>
        <p:grpSpPr>
          <a:xfrm>
            <a:off x="6585990" y="926133"/>
            <a:ext cx="5430459" cy="2989293"/>
            <a:chOff x="164632" y="3657600"/>
            <a:chExt cx="5430459" cy="2989293"/>
          </a:xfrm>
        </p:grpSpPr>
        <p:graphicFrame>
          <p:nvGraphicFramePr>
            <p:cNvPr id="42" name="グラフ 41">
              <a:extLst>
                <a:ext uri="{FF2B5EF4-FFF2-40B4-BE49-F238E27FC236}">
                  <a16:creationId xmlns:a16="http://schemas.microsoft.com/office/drawing/2014/main" id="{65E22F73-A024-D83F-FD0C-B4E8698EC3E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03515424"/>
                </p:ext>
              </p:extLst>
            </p:nvPr>
          </p:nvGraphicFramePr>
          <p:xfrm>
            <a:off x="164632" y="3657600"/>
            <a:ext cx="5430459" cy="26543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81699218-096C-EDE9-30D7-B765AEA260C5}"/>
                </a:ext>
              </a:extLst>
            </p:cNvPr>
            <p:cNvSpPr txBox="1"/>
            <p:nvPr/>
          </p:nvSpPr>
          <p:spPr>
            <a:xfrm>
              <a:off x="514279" y="6216006"/>
              <a:ext cx="506420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100" dirty="0">
                  <a:hlinkClick r:id="rId7" tooltip="データのソース元へジャンプ"/>
                </a:rPr>
                <a:t>民間企業コラムより</a:t>
              </a:r>
              <a:endParaRPr lang="en-US" altLang="ja-JP" sz="1100" dirty="0">
                <a:hlinkClick r:id="rId7" tooltip="データのソース元へジャンプ"/>
              </a:endParaRPr>
            </a:p>
            <a:p>
              <a:r>
                <a:rPr lang="ja-JP" altLang="en-US" sz="1100" dirty="0">
                  <a:hlinkClick r:id="rId7" tooltip="データのソース元へジャンプ"/>
                </a:rPr>
                <a:t>「</a:t>
              </a:r>
              <a:r>
                <a:rPr lang="ja-JP" altLang="ja-JP" sz="1100" b="0" i="0" dirty="0">
                  <a:solidFill>
                    <a:srgbClr val="000000"/>
                  </a:solidFill>
                  <a:effectLst/>
                  <a:latin typeface="Zen Kaku Gothic New"/>
                  <a:hlinkClick r:id="rId7" tooltip="データのソース元へジャンプ"/>
                </a:rPr>
                <a:t>厚生労働省　職業安定業務統計</a:t>
              </a:r>
              <a:r>
                <a:rPr lang="ja-JP" altLang="en-US" sz="1100" dirty="0">
                  <a:hlinkClick r:id="rId7" tooltip="データのソース元へジャンプ"/>
                </a:rPr>
                <a:t>」「</a:t>
              </a:r>
              <a:r>
                <a:rPr lang="ja-JP" altLang="ja-JP" sz="1100" b="0" i="0" dirty="0">
                  <a:solidFill>
                    <a:srgbClr val="000000"/>
                  </a:solidFill>
                  <a:effectLst/>
                  <a:latin typeface="Zen Kaku Gothic New"/>
                  <a:hlinkClick r:id="rId7" tooltip="データのソース元へジャンプ"/>
                </a:rPr>
                <a:t>職業情報提供サイト（日本版O-NET）</a:t>
              </a:r>
              <a:r>
                <a:rPr lang="ja-JP" altLang="en-US" sz="1100" dirty="0">
                  <a:hlinkClick r:id="rId7" tooltip="データのソース元へジャンプ"/>
                </a:rPr>
                <a:t>」</a:t>
              </a:r>
              <a:endParaRPr kumimoji="1" lang="ja-JP" altLang="en-US" sz="1100" dirty="0"/>
            </a:p>
          </p:txBody>
        </p:sp>
      </p:grp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F2FF0D2-359C-F91B-7E51-76E2B6061B54}"/>
              </a:ext>
            </a:extLst>
          </p:cNvPr>
          <p:cNvSpPr txBox="1"/>
          <p:nvPr/>
        </p:nvSpPr>
        <p:spPr>
          <a:xfrm>
            <a:off x="6883759" y="4299417"/>
            <a:ext cx="75856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50000"/>
              <a:buBlip>
                <a:blip r:embed="rId3"/>
              </a:buBlip>
            </a:pPr>
            <a:r>
              <a:rPr kumimoji="1"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物流業界内の労働人口減少</a:t>
            </a:r>
            <a:endParaRPr lang="en-US" altLang="ja-JP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サイト内の作業量増加と人手不足の深刻化</a:t>
            </a: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A7195AAE-2B3C-8A94-39D9-0A91E8424B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C8D8D4FB-8576-208F-C86D-17D8D94A38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pic>
        <p:nvPicPr>
          <p:cNvPr id="59" name="図 58" descr="古びた紙イラスト｜無料イラスト・フリー素材なら「イラストAC」">
            <a:extLst>
              <a:ext uri="{FF2B5EF4-FFF2-40B4-BE49-F238E27FC236}">
                <a16:creationId xmlns:a16="http://schemas.microsoft.com/office/drawing/2014/main" id="{958CA1B7-D4BE-1811-1363-46F3BEEC5F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6681969" y="5124861"/>
            <a:ext cx="5218163" cy="1696030"/>
          </a:xfrm>
          <a:prstGeom prst="rect">
            <a:avLst/>
          </a:prstGeom>
        </p:spPr>
      </p:pic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93BBF8C4-64AC-D961-3AB1-D0A9AE72F921}"/>
              </a:ext>
            </a:extLst>
          </p:cNvPr>
          <p:cNvSpPr txBox="1"/>
          <p:nvPr/>
        </p:nvSpPr>
        <p:spPr>
          <a:xfrm>
            <a:off x="7224423" y="5483219"/>
            <a:ext cx="359576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Q. </a:t>
            </a:r>
            <a:r>
              <a:rPr lang="ja-JP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有効求人倍率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とは？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求職者1人あたりに対して何件の求人があるかを示す経済指標。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による概要）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0613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00707F2-4C57-ED78-C939-02D58B5E4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2D17F43B-2968-76FB-154F-738C5DF67BA2}"/>
              </a:ext>
            </a:extLst>
          </p:cNvPr>
          <p:cNvSpPr/>
          <p:nvPr/>
        </p:nvSpPr>
        <p:spPr>
          <a:xfrm>
            <a:off x="8034055" y="4278297"/>
            <a:ext cx="3810000" cy="2429778"/>
          </a:xfrm>
          <a:prstGeom prst="roundRect">
            <a:avLst>
              <a:gd name="adj" fmla="val 4835"/>
            </a:avLst>
          </a:prstGeom>
          <a:solidFill>
            <a:schemeClr val="tx2">
              <a:lumMod val="10000"/>
              <a:lumOff val="9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41839EE9-E6FF-90CA-4EA6-7F1744BD3F72}"/>
              </a:ext>
            </a:extLst>
          </p:cNvPr>
          <p:cNvSpPr/>
          <p:nvPr/>
        </p:nvSpPr>
        <p:spPr>
          <a:xfrm>
            <a:off x="3792804" y="5529075"/>
            <a:ext cx="2580481" cy="18181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25EF8B26-C985-4151-8D78-E7DDB5822491}"/>
              </a:ext>
            </a:extLst>
          </p:cNvPr>
          <p:cNvSpPr/>
          <p:nvPr/>
        </p:nvSpPr>
        <p:spPr>
          <a:xfrm>
            <a:off x="1449137" y="3785937"/>
            <a:ext cx="6197600" cy="18181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Group 5">
            <a:extLst>
              <a:ext uri="{FF2B5EF4-FFF2-40B4-BE49-F238E27FC236}">
                <a16:creationId xmlns:a16="http://schemas.microsoft.com/office/drawing/2014/main" id="{B90467A1-4683-613D-DFE8-4F03235D7B30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9D4545F-0C2F-EB63-9361-1F369829B0C8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BC384B3D-7931-09C9-7E9D-44285EFB973F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43BA01FF-1A31-021C-5840-A29F41D4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Q. 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人手不足は深刻化しているのか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E468B09-0F2B-BC05-BB06-0E852326D58C}"/>
              </a:ext>
            </a:extLst>
          </p:cNvPr>
          <p:cNvSpPr txBox="1"/>
          <p:nvPr/>
        </p:nvSpPr>
        <p:spPr>
          <a:xfrm>
            <a:off x="8680190" y="6390268"/>
            <a:ext cx="2470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hlinkClick r:id="rId2"/>
              </a:rPr>
              <a:t>〖</a:t>
            </a:r>
            <a:r>
              <a:rPr lang="ja-JP" altLang="en-US" sz="1100" dirty="0">
                <a:hlinkClick r:id="rId2"/>
              </a:rPr>
              <a:t>グラフ</a:t>
            </a:r>
            <a:r>
              <a:rPr lang="en-US" altLang="ja-JP" sz="1100" dirty="0">
                <a:hlinkClick r:id="rId2"/>
              </a:rPr>
              <a:t>〗</a:t>
            </a:r>
            <a:r>
              <a:rPr lang="ja-JP" altLang="en-US" sz="1100" dirty="0">
                <a:hlinkClick r:id="rId2"/>
              </a:rPr>
              <a:t>民間メディアの記事より</a:t>
            </a:r>
            <a:endParaRPr kumimoji="1" lang="ja-JP" altLang="en-US" sz="11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A0B2F5A-C80E-E3A7-AF91-6AD9209BA0AB}"/>
              </a:ext>
            </a:extLst>
          </p:cNvPr>
          <p:cNvSpPr txBox="1"/>
          <p:nvPr/>
        </p:nvSpPr>
        <p:spPr>
          <a:xfrm>
            <a:off x="895537" y="1719263"/>
            <a:ext cx="978327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50000"/>
              <a:buBlip>
                <a:blip r:embed="rId3"/>
              </a:buBlip>
            </a:pPr>
            <a:r>
              <a:rPr lang="ja-JP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「1人あたりの労働時間」が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法改正で</a:t>
            </a:r>
            <a:r>
              <a:rPr lang="ja-JP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削減された</a:t>
            </a:r>
            <a:r>
              <a:rPr lang="ja-JP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2024年4月から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時間外労働の上限規制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、トラックドライバーや現場作業員が「残業できる時間」が厳格に制限。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頭数が同じでも、1人が働ける時間が減ったため、これまでと同じ作業量をこなすためには「より多くの人数」を新たに雇わなければならなくなったのが最大の要因。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buSzPct val="150000"/>
              <a:buBlip>
                <a:blip r:embed="rId3"/>
              </a:buBlip>
            </a:pPr>
            <a:endParaRPr lang="ja-JP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buSzPct val="150000"/>
              <a:buBlip>
                <a:blip r:embed="rId3"/>
              </a:buBlip>
            </a:pPr>
            <a:r>
              <a:rPr lang="ja-JP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EC市場拡大による「必要な作業量」の爆発的増加</a:t>
            </a:r>
            <a:r>
              <a:rPr lang="ja-JP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buSzPct val="150000"/>
              <a:buBlip>
                <a:blip r:embed="rId3"/>
              </a:buBlip>
            </a:pP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インターネット通販の普及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で、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扱う荷物の量や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endParaRPr lang="en-US" altLang="ja-JP" sz="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多品種・小ロットの複雑な仕分け作業は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年々増加</a:t>
            </a:r>
            <a:endParaRPr lang="ja-JP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9" name="Group 2">
            <a:extLst>
              <a:ext uri="{FF2B5EF4-FFF2-40B4-BE49-F238E27FC236}">
                <a16:creationId xmlns:a16="http://schemas.microsoft.com/office/drawing/2014/main" id="{41D3784C-8BBC-0B8A-9C94-DD8301A9AC5B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D82A20A9-E627-989C-C0D4-B243C6A64829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685808B-C81D-2225-ADE1-1BB91260F1CA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88B557A-1E75-D5C7-2734-49D4B791F5E2}"/>
              </a:ext>
            </a:extLst>
          </p:cNvPr>
          <p:cNvGrpSpPr/>
          <p:nvPr/>
        </p:nvGrpSpPr>
        <p:grpSpPr>
          <a:xfrm>
            <a:off x="11296463" y="882643"/>
            <a:ext cx="773286" cy="2974741"/>
            <a:chOff x="10111872" y="1484964"/>
            <a:chExt cx="773286" cy="2974741"/>
          </a:xfrm>
        </p:grpSpPr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F0091FFD-58D7-109B-AFA2-DB69027D42EB}"/>
                </a:ext>
              </a:extLst>
            </p:cNvPr>
            <p:cNvSpPr/>
            <p:nvPr/>
          </p:nvSpPr>
          <p:spPr>
            <a:xfrm>
              <a:off x="10111872" y="1484964"/>
              <a:ext cx="773286" cy="29747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FF8F1FE7-159B-865F-AADA-BA3B8FD2B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0339" y="1554754"/>
              <a:ext cx="696351" cy="696351"/>
            </a:xfrm>
            <a:prstGeom prst="roundRect">
              <a:avLst>
                <a:gd name="adj" fmla="val 14363"/>
              </a:avLst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C86F7241-14C9-BE57-C21F-A586D6726002}"/>
                </a:ext>
              </a:extLst>
            </p:cNvPr>
            <p:cNvSpPr txBox="1"/>
            <p:nvPr/>
          </p:nvSpPr>
          <p:spPr>
            <a:xfrm>
              <a:off x="10150339" y="2279982"/>
              <a:ext cx="692497" cy="210151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倉庫業における人手不足についての総合調査結果（ソース）が気になる方はこちら</a:t>
              </a:r>
              <a:endPara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81E0CCB7-4F60-3124-59F7-329489E97F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8980587"/>
              </p:ext>
            </p:extLst>
          </p:nvPr>
        </p:nvGraphicFramePr>
        <p:xfrm>
          <a:off x="7886471" y="4320828"/>
          <a:ext cx="4057925" cy="2007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タイトル 1">
            <a:extLst>
              <a:ext uri="{FF2B5EF4-FFF2-40B4-BE49-F238E27FC236}">
                <a16:creationId xmlns:a16="http://schemas.microsoft.com/office/drawing/2014/main" id="{2AFA2FE4-B4C2-FE2A-06C7-2389B0E9C0DA}"/>
              </a:ext>
            </a:extLst>
          </p:cNvPr>
          <p:cNvSpPr txBox="1">
            <a:spLocks/>
          </p:cNvSpPr>
          <p:nvPr/>
        </p:nvSpPr>
        <p:spPr>
          <a:xfrm>
            <a:off x="5817649" y="119277"/>
            <a:ext cx="5862128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１．社会課題 ～物流業界が抱える問題～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19647CAB-1017-016A-7233-C8A6823763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89719825-937A-5392-AC2A-1B22D7757C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95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8FE1095-B5A1-460B-F9CF-BF02FBC7E3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114631C2-0A84-8292-A01E-8C8886B98369}"/>
              </a:ext>
            </a:extLst>
          </p:cNvPr>
          <p:cNvSpPr/>
          <p:nvPr/>
        </p:nvSpPr>
        <p:spPr>
          <a:xfrm>
            <a:off x="722562" y="3327644"/>
            <a:ext cx="8712108" cy="5023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6535F25F-D4F4-A0D8-7CAF-491621D30B34}"/>
              </a:ext>
            </a:extLst>
          </p:cNvPr>
          <p:cNvSpPr/>
          <p:nvPr/>
        </p:nvSpPr>
        <p:spPr>
          <a:xfrm>
            <a:off x="722562" y="4252727"/>
            <a:ext cx="4697225" cy="46709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7E6B9DE-0C25-8D97-882A-2334A02A38CA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E02887F-5124-1164-E4A7-DBA08449E0B4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6633493-8BA3-57FE-FC7D-2687DFA3C8FB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965BFD5E-A341-3B59-7ED0-552D8981FDD3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9525A285-7701-5A07-1CD0-0FBFFCB4C396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3C524F95-69AC-E964-D3C8-C70822ED87E9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58B150-5129-4AA5-4F81-AE0C26B0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既存ロボット「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AMR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」にも課題多し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DDED7E-11F6-D897-52E8-AD70A5971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4571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ロボットがすれ違いできる 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スペースの確保 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が必要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ロボット同士が進路を譲り合う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デットロック発生 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のリスク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屋外や悪環境での利用は困難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長い廊下といった「特徴のない空間」 での 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自己位置見失い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通信環境への依存リスク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初期費用（導入コスト）の高さ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セキュリティ面の課題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23CC4C5E-4635-DA19-D3AA-A69E50ED638D}"/>
              </a:ext>
            </a:extLst>
          </p:cNvPr>
          <p:cNvSpPr txBox="1">
            <a:spLocks/>
          </p:cNvSpPr>
          <p:nvPr/>
        </p:nvSpPr>
        <p:spPr>
          <a:xfrm>
            <a:off x="5817649" y="119277"/>
            <a:ext cx="5862128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１．社会課題 ～物流業界が抱える問題～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BC1342AF-255F-FF61-130E-9789CE880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E7F0FB13-8B0A-6A4F-42F2-10F28B4C7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7FA3816-3213-8393-AF33-D104C2B498C0}"/>
              </a:ext>
            </a:extLst>
          </p:cNvPr>
          <p:cNvSpPr txBox="1"/>
          <p:nvPr/>
        </p:nvSpPr>
        <p:spPr>
          <a:xfrm>
            <a:off x="7478828" y="5345668"/>
            <a:ext cx="2095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解決できるかも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3" name="図 22" descr="回転した上矢印 | かわいい手描きの無料イラスト｜商用利用OKのフリー素材｜てがきっず">
            <a:extLst>
              <a:ext uri="{FF2B5EF4-FFF2-40B4-BE49-F238E27FC236}">
                <a16:creationId xmlns:a16="http://schemas.microsoft.com/office/drawing/2014/main" id="{7AC3243C-9361-2AC2-5389-527EB1FB7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72311">
            <a:off x="8830327" y="4033598"/>
            <a:ext cx="1317850" cy="1317850"/>
          </a:xfrm>
          <a:prstGeom prst="rect">
            <a:avLst/>
          </a:prstGeom>
        </p:spPr>
      </p:pic>
      <p:pic>
        <p:nvPicPr>
          <p:cNvPr id="24" name="図 23" descr="回転した上矢印 | かわいい手描きの無料イラスト｜商用利用OKのフリー素材｜てがきっず">
            <a:extLst>
              <a:ext uri="{FF2B5EF4-FFF2-40B4-BE49-F238E27FC236}">
                <a16:creationId xmlns:a16="http://schemas.microsoft.com/office/drawing/2014/main" id="{B4ABFA9B-0917-86DE-5633-111B4D508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773709">
            <a:off x="6206276" y="4021447"/>
            <a:ext cx="1469944" cy="1469944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48ED4F01-D916-BFC9-ACB4-09903343B1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2636" y="1380070"/>
            <a:ext cx="2477636" cy="2523097"/>
          </a:xfrm>
          <a:prstGeom prst="roundRect">
            <a:avLst>
              <a:gd name="adj" fmla="val 8404"/>
            </a:avLst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CDB5D9BA-4139-0881-9B1A-D5A44C33F2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0903" y="4921617"/>
            <a:ext cx="1615734" cy="1431829"/>
          </a:xfrm>
          <a:prstGeom prst="roundRect">
            <a:avLst>
              <a:gd name="adj" fmla="val 6890"/>
            </a:avLst>
          </a:prstGeom>
        </p:spPr>
      </p:pic>
    </p:spTree>
    <p:extLst>
      <p:ext uri="{BB962C8B-B14F-4D97-AF65-F5344CB8AC3E}">
        <p14:creationId xmlns:p14="http://schemas.microsoft.com/office/powerpoint/2010/main" val="2881894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8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F399A0A-0D91-0168-5C05-0587B5743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1A5521B-7E88-2352-0CDA-A79E7223745D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B3A7300-64EE-C8C6-7648-DE253D27172E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EC546F6-16D3-DC61-40EA-5B7FABE42C2E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27CD0D94-85AF-29BB-C9C1-2370647A8F71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96E0753A-EB44-80D8-59E0-4F966BBF3BD0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B157C765-AB9E-545A-E671-79D06600180A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E2CCDE-B86C-D01F-62B6-78F437B78743}"/>
              </a:ext>
            </a:extLst>
          </p:cNvPr>
          <p:cNvSpPr txBox="1"/>
          <p:nvPr/>
        </p:nvSpPr>
        <p:spPr>
          <a:xfrm>
            <a:off x="508672" y="2615624"/>
            <a:ext cx="1128163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２．研究内容</a:t>
            </a:r>
            <a:endParaRPr kumimoji="1" lang="en-US" altLang="ja-JP" sz="6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/>
            <a:endParaRPr kumimoji="1" lang="en-US" altLang="ja-JP" sz="1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/>
            <a:r>
              <a:rPr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～ </a:t>
            </a:r>
            <a:r>
              <a:rPr kumimoji="1"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低コストで実現するアプローチ方法 </a:t>
            </a:r>
            <a:r>
              <a:rPr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～</a:t>
            </a:r>
            <a:endParaRPr kumimoji="1" lang="en-US" altLang="ja-JP" sz="4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0487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792016A-B2AB-A8D8-D184-40E82B6F9394}"/>
              </a:ext>
            </a:extLst>
          </p:cNvPr>
          <p:cNvSpPr txBox="1"/>
          <p:nvPr/>
        </p:nvSpPr>
        <p:spPr>
          <a:xfrm>
            <a:off x="1053432" y="4299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DFF5E0B-8973-C34B-F1B3-B5E7249AF3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10" name="Group 5">
            <a:extLst>
              <a:ext uri="{FF2B5EF4-FFF2-40B4-BE49-F238E27FC236}">
                <a16:creationId xmlns:a16="http://schemas.microsoft.com/office/drawing/2014/main" id="{E1B2A8DD-0149-E0C2-FBB9-D6CC837EBC01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78E5805E-B787-291A-F423-4D655140F010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59EE4514-B671-88F6-BC63-A12248F90441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2">
            <a:extLst>
              <a:ext uri="{FF2B5EF4-FFF2-40B4-BE49-F238E27FC236}">
                <a16:creationId xmlns:a16="http://schemas.microsoft.com/office/drawing/2014/main" id="{0A1E6CE2-9FC5-F59A-8180-84E9C23505D9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128F07F5-1867-5666-EC7D-057D03C3B575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3F694E0B-A93C-2CAB-927D-8464ECBE5EC0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EBA88718-F02A-8E9C-3122-C7ADD305F5AB}"/>
              </a:ext>
            </a:extLst>
          </p:cNvPr>
          <p:cNvSpPr txBox="1">
            <a:spLocks/>
          </p:cNvSpPr>
          <p:nvPr/>
        </p:nvSpPr>
        <p:spPr>
          <a:xfrm>
            <a:off x="3784768" y="119277"/>
            <a:ext cx="7895009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２．研究内容 ～低コストで実現するアプローチ方法 ～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3B01D8DD-2C69-7F91-6DF4-829AB2644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11586D70-36B2-A67A-D396-39B3F8D84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pic>
        <p:nvPicPr>
          <p:cNvPr id="19" name="図 18" descr="アリの生態にみる自己組織化のルール：自己組織化プロジェクトの育て方（2）（2/3 ページ） - ＠IT 情報マネジメント">
            <a:extLst>
              <a:ext uri="{FF2B5EF4-FFF2-40B4-BE49-F238E27FC236}">
                <a16:creationId xmlns:a16="http://schemas.microsoft.com/office/drawing/2014/main" id="{730B7E78-C0B1-832D-CA49-6DD0F3584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08" y="939719"/>
            <a:ext cx="5263741" cy="2556674"/>
          </a:xfrm>
          <a:prstGeom prst="roundRect">
            <a:avLst>
              <a:gd name="adj" fmla="val 6944"/>
            </a:avLst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262A235-DFCB-FAB0-2387-EC0477DF8B14}"/>
              </a:ext>
            </a:extLst>
          </p:cNvPr>
          <p:cNvSpPr txBox="1"/>
          <p:nvPr/>
        </p:nvSpPr>
        <p:spPr>
          <a:xfrm>
            <a:off x="5401621" y="6535783"/>
            <a:ext cx="6956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イラスト参照元　：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https://www.itmedia.co.jp/im/articles/0602/15/news109_2.html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347E1437-6CDC-50D8-3E1C-4FEEA7183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234" y="1418713"/>
            <a:ext cx="5263741" cy="159868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SzPct val="120000"/>
              <a:buBlip>
                <a:blip r:embed="rId5"/>
              </a:buBlip>
            </a:pP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道中にフェロモンを落とす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  <a:buBlip>
                <a:blip r:embed="rId5"/>
              </a:buBlip>
            </a:pPr>
            <a:endParaRPr lang="en-US" altLang="ja-JP" sz="9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働きアリはエサ場から巣に戻るまで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フェロモンを落とす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2" name="図 21" descr="アリの生態にみる自己組織化のルール：自己組織化プロジェクトの育て方（2）（2/3 ページ） - ＠IT 情報マネジメント">
            <a:extLst>
              <a:ext uri="{FF2B5EF4-FFF2-40B4-BE49-F238E27FC236}">
                <a16:creationId xmlns:a16="http://schemas.microsoft.com/office/drawing/2014/main" id="{BC043249-214E-F7BD-2AEE-0E4F54C394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6198" y="3545120"/>
            <a:ext cx="4667250" cy="2952750"/>
          </a:xfrm>
          <a:prstGeom prst="roundRect">
            <a:avLst>
              <a:gd name="adj" fmla="val 5387"/>
            </a:avLst>
          </a:prstGeom>
        </p:spPr>
      </p:pic>
      <p:sp>
        <p:nvSpPr>
          <p:cNvPr id="23" name="コンテンツ プレースホルダー 2">
            <a:extLst>
              <a:ext uri="{FF2B5EF4-FFF2-40B4-BE49-F238E27FC236}">
                <a16:creationId xmlns:a16="http://schemas.microsoft.com/office/drawing/2014/main" id="{03D9D431-9E86-CA34-B2B8-C0A5C1BC31EC}"/>
              </a:ext>
            </a:extLst>
          </p:cNvPr>
          <p:cNvSpPr txBox="1">
            <a:spLocks/>
          </p:cNvSpPr>
          <p:nvPr/>
        </p:nvSpPr>
        <p:spPr>
          <a:xfrm>
            <a:off x="399672" y="4377854"/>
            <a:ext cx="5807348" cy="1598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SzPct val="120000"/>
              <a:buFont typeface="Arial" panose="020B0604020202020204" pitchFamily="34" charset="0"/>
              <a:buBlip>
                <a:blip r:embed="rId5"/>
              </a:buBlip>
            </a:pP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フェロモンを頼りにエサを運ぶ</a:t>
            </a:r>
            <a:endParaRPr lang="en-US" altLang="ja-JP" sz="9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ja-JP" sz="8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他の働きアリはフェロモンを頼りにエサ場まで行き、帰巣する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5540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0826C-C9D0-7E4B-1854-FD97BDDF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E8B16D-E457-2654-C13D-57E1C6ABFEFF}"/>
              </a:ext>
            </a:extLst>
          </p:cNvPr>
          <p:cNvSpPr txBox="1"/>
          <p:nvPr/>
        </p:nvSpPr>
        <p:spPr>
          <a:xfrm>
            <a:off x="1053432" y="4299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56EE53-11C2-EE2D-AA96-0FFD59230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10" name="Group 5">
            <a:extLst>
              <a:ext uri="{FF2B5EF4-FFF2-40B4-BE49-F238E27FC236}">
                <a16:creationId xmlns:a16="http://schemas.microsoft.com/office/drawing/2014/main" id="{688C1D76-1CA9-AFC9-3474-881D65317999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0F694012-1D5E-FBAA-5340-671E6621B83D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2BB79533-8140-F6BC-5DF6-89ED9BC200DB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2">
            <a:extLst>
              <a:ext uri="{FF2B5EF4-FFF2-40B4-BE49-F238E27FC236}">
                <a16:creationId xmlns:a16="http://schemas.microsoft.com/office/drawing/2014/main" id="{7A993E59-E254-5FD6-38EB-E066DEF26A73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1183B805-826D-FF83-9D10-65E7DD38C76C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B38E4C46-B026-DBA5-8539-C4F54995FF2F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1ED7A65C-4F5D-89DF-841C-FC0624AD26B5}"/>
              </a:ext>
            </a:extLst>
          </p:cNvPr>
          <p:cNvSpPr txBox="1">
            <a:spLocks/>
          </p:cNvSpPr>
          <p:nvPr/>
        </p:nvSpPr>
        <p:spPr>
          <a:xfrm>
            <a:off x="3784768" y="119277"/>
            <a:ext cx="7895009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２．研究内容 ～低コストで実現するアプローチ方法 ～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94CE2873-DCEB-D677-237A-EEA5E75E0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1B1A7AD3-ABA8-7F3E-32F7-48A289144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pic>
        <p:nvPicPr>
          <p:cNvPr id="19" name="図 18" descr="アリの生態にみる自己組織化のルール：自己組織化プロジェクトの育て方（2）（2/3 ページ） - ＠IT 情報マネジメント">
            <a:extLst>
              <a:ext uri="{FF2B5EF4-FFF2-40B4-BE49-F238E27FC236}">
                <a16:creationId xmlns:a16="http://schemas.microsoft.com/office/drawing/2014/main" id="{0B9D9ABE-43EB-FF2B-109A-D35FFA481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08" y="939719"/>
            <a:ext cx="5263741" cy="2556674"/>
          </a:xfrm>
          <a:prstGeom prst="roundRect">
            <a:avLst>
              <a:gd name="adj" fmla="val 6944"/>
            </a:avLst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95C8645-E1FD-39F6-77A6-248D54E9BD30}"/>
              </a:ext>
            </a:extLst>
          </p:cNvPr>
          <p:cNvSpPr txBox="1"/>
          <p:nvPr/>
        </p:nvSpPr>
        <p:spPr>
          <a:xfrm>
            <a:off x="5401621" y="6535783"/>
            <a:ext cx="6956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イラスト参照元　：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https://www.itmedia.co.jp/im/articles/0602/15/news109_2.html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D9F5AB66-7B7A-11FE-96B5-9156C11D1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234" y="1418713"/>
            <a:ext cx="5263741" cy="159868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SzPct val="120000"/>
              <a:buBlip>
                <a:blip r:embed="rId5"/>
              </a:buBlip>
            </a:pP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道中にフェロモンを落とす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  <a:buBlip>
                <a:blip r:embed="rId5"/>
              </a:buBlip>
            </a:pPr>
            <a:endParaRPr lang="en-US" altLang="ja-JP" sz="9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働きアリはエサ場から巣に戻るまで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フェロモンを落とす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2" name="図 21" descr="アリの生態にみる自己組織化のルール：自己組織化プロジェクトの育て方（2）（2/3 ページ） - ＠IT 情報マネジメント">
            <a:extLst>
              <a:ext uri="{FF2B5EF4-FFF2-40B4-BE49-F238E27FC236}">
                <a16:creationId xmlns:a16="http://schemas.microsoft.com/office/drawing/2014/main" id="{65198CBE-7225-CEAE-E5C9-751598331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6198" y="3545120"/>
            <a:ext cx="4667250" cy="2952750"/>
          </a:xfrm>
          <a:prstGeom prst="roundRect">
            <a:avLst>
              <a:gd name="adj" fmla="val 5387"/>
            </a:avLst>
          </a:prstGeom>
        </p:spPr>
      </p:pic>
      <p:sp>
        <p:nvSpPr>
          <p:cNvPr id="23" name="コンテンツ プレースホルダー 2">
            <a:extLst>
              <a:ext uri="{FF2B5EF4-FFF2-40B4-BE49-F238E27FC236}">
                <a16:creationId xmlns:a16="http://schemas.microsoft.com/office/drawing/2014/main" id="{767F5769-0977-8CC0-0CB1-D2F00A34E2F8}"/>
              </a:ext>
            </a:extLst>
          </p:cNvPr>
          <p:cNvSpPr txBox="1">
            <a:spLocks/>
          </p:cNvSpPr>
          <p:nvPr/>
        </p:nvSpPr>
        <p:spPr>
          <a:xfrm>
            <a:off x="399672" y="4377854"/>
            <a:ext cx="5807348" cy="1598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SzPct val="120000"/>
              <a:buFont typeface="Arial" panose="020B0604020202020204" pitchFamily="34" charset="0"/>
              <a:buBlip>
                <a:blip r:embed="rId5"/>
              </a:buBlip>
            </a:pP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フェロモンを頼りにエサを運ぶ</a:t>
            </a:r>
            <a:endParaRPr lang="en-US" altLang="ja-JP" sz="9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ja-JP" sz="8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他の働きアリはフェロモンを頼りにエサ場まで行き、帰巣する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AEBC8E1-1858-2F8F-2786-2242D62FF047}"/>
              </a:ext>
            </a:extLst>
          </p:cNvPr>
          <p:cNvSpPr/>
          <p:nvPr/>
        </p:nvSpPr>
        <p:spPr>
          <a:xfrm>
            <a:off x="1365847" y="4159020"/>
            <a:ext cx="9921923" cy="2173541"/>
          </a:xfrm>
          <a:prstGeom prst="roundRect">
            <a:avLst>
              <a:gd name="adj" fmla="val 1603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4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分散型システム </a:t>
            </a:r>
            <a:r>
              <a:rPr lang="ja-JP" altLang="en-US" sz="36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の構築</a:t>
            </a:r>
            <a:endParaRPr lang="en-US" altLang="ja-JP" sz="4400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endParaRPr lang="en-US" altLang="ja-JP" sz="1000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36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突然の障害物への </a:t>
            </a:r>
            <a:r>
              <a:rPr lang="ja-JP" altLang="en-US" sz="44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柔軟な対応</a:t>
            </a:r>
            <a:endParaRPr kumimoji="1" lang="ja-JP" altLang="en-US" sz="4400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2DD61FA-31E2-2347-927D-27F22AF66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3647" y="2966267"/>
            <a:ext cx="2600127" cy="260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88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A7A01D0-EE8B-808D-8385-079793D0D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CF93B1A-DB9D-803B-1280-5FAD7510183E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A3FB5C9-BA74-6509-CDCE-C7D459B78390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E223B66-C49C-6AA3-BB80-1AB198F438AF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B7DF10E0-1811-76FF-BF30-7B9680E2D937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155EF001-EB5E-FE6C-06F6-4865B317D53F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F5494229-01E2-BEC0-32A6-6FA9E2CA29E1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3" name="図 2">
            <a:extLst>
              <a:ext uri="{FF2B5EF4-FFF2-40B4-BE49-F238E27FC236}">
                <a16:creationId xmlns:a16="http://schemas.microsoft.com/office/drawing/2014/main" id="{74F9482D-3C39-A456-31F0-0E467AA09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35" y="705313"/>
            <a:ext cx="9229031" cy="6152687"/>
          </a:xfrm>
          <a:prstGeom prst="roundRect">
            <a:avLst>
              <a:gd name="adj" fmla="val 1568"/>
            </a:avLst>
          </a:prstGeom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DF6F14E-FC24-B0BE-A2D6-3039273CE88B}"/>
              </a:ext>
            </a:extLst>
          </p:cNvPr>
          <p:cNvGrpSpPr/>
          <p:nvPr/>
        </p:nvGrpSpPr>
        <p:grpSpPr>
          <a:xfrm>
            <a:off x="10684845" y="1613134"/>
            <a:ext cx="1190244" cy="4101866"/>
            <a:chOff x="10111872" y="1484964"/>
            <a:chExt cx="773286" cy="2974741"/>
          </a:xfrm>
        </p:grpSpPr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19991D1E-2A2C-8B29-A151-7C8EC5580D35}"/>
                </a:ext>
              </a:extLst>
            </p:cNvPr>
            <p:cNvSpPr/>
            <p:nvPr/>
          </p:nvSpPr>
          <p:spPr>
            <a:xfrm>
              <a:off x="10111872" y="1484964"/>
              <a:ext cx="773286" cy="29747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EE642170-712A-4CB4-014E-AB5E72EA7423}"/>
                </a:ext>
              </a:extLst>
            </p:cNvPr>
            <p:cNvSpPr txBox="1"/>
            <p:nvPr/>
          </p:nvSpPr>
          <p:spPr>
            <a:xfrm>
              <a:off x="10258564" y="2407868"/>
              <a:ext cx="479900" cy="197207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この画像をゆっくり確認したい方はこちら</a:t>
              </a:r>
              <a:endPara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pic>
        <p:nvPicPr>
          <p:cNvPr id="15" name="図 14">
            <a:extLst>
              <a:ext uri="{FF2B5EF4-FFF2-40B4-BE49-F238E27FC236}">
                <a16:creationId xmlns:a16="http://schemas.microsoft.com/office/drawing/2014/main" id="{73DBE98A-E5D5-6C53-AFF8-9D0AEAA05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695" y="1701158"/>
            <a:ext cx="1096543" cy="1096543"/>
          </a:xfrm>
          <a:prstGeom prst="roundRect">
            <a:avLst>
              <a:gd name="adj" fmla="val 10140"/>
            </a:avLst>
          </a:prstGeom>
        </p:spPr>
      </p:pic>
      <p:sp>
        <p:nvSpPr>
          <p:cNvPr id="16" name="タイトル 1">
            <a:extLst>
              <a:ext uri="{FF2B5EF4-FFF2-40B4-BE49-F238E27FC236}">
                <a16:creationId xmlns:a16="http://schemas.microsoft.com/office/drawing/2014/main" id="{0E3CF4AD-1AEC-0CE0-DF8D-00148A93B093}"/>
              </a:ext>
            </a:extLst>
          </p:cNvPr>
          <p:cNvSpPr txBox="1">
            <a:spLocks/>
          </p:cNvSpPr>
          <p:nvPr/>
        </p:nvSpPr>
        <p:spPr>
          <a:xfrm>
            <a:off x="3784768" y="119277"/>
            <a:ext cx="7895009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２．研究内容 ～低コストで実現するアプローチ方法 ～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963514D5-1C93-B6E0-37A2-57A0CB3C2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1CD06D1C-5B49-5610-B028-9BF1109DB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39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4BEE9-9030-8528-1442-5E76C61F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3CB06CD-4062-4515-2BEC-A29734D50843}"/>
              </a:ext>
            </a:extLst>
          </p:cNvPr>
          <p:cNvSpPr txBox="1"/>
          <p:nvPr/>
        </p:nvSpPr>
        <p:spPr>
          <a:xfrm>
            <a:off x="1053432" y="4299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C183987-8CD4-6ADA-9374-CED2438D01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10" name="Group 5">
            <a:extLst>
              <a:ext uri="{FF2B5EF4-FFF2-40B4-BE49-F238E27FC236}">
                <a16:creationId xmlns:a16="http://schemas.microsoft.com/office/drawing/2014/main" id="{190AC33E-43A1-3188-8075-9EDEFAC83675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BC2D0141-B618-3CE9-CCE8-466911A8ED36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8A1C3FF8-AE23-C773-C227-BBA5AFDECBE0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2">
            <a:extLst>
              <a:ext uri="{FF2B5EF4-FFF2-40B4-BE49-F238E27FC236}">
                <a16:creationId xmlns:a16="http://schemas.microsoft.com/office/drawing/2014/main" id="{F3B0A06E-5F2E-08C6-1C99-5643D42707B0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D3CA71EA-822E-F2AA-BC27-D416EE097788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37553055-D0F1-8934-7866-3FBB239C6165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17" name="図 16">
            <a:extLst>
              <a:ext uri="{FF2B5EF4-FFF2-40B4-BE49-F238E27FC236}">
                <a16:creationId xmlns:a16="http://schemas.microsoft.com/office/drawing/2014/main" id="{DD179E5D-495B-5168-533A-5035A4006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CA29155E-BAE2-92E2-BFFD-16A38D456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6BF36C7E-3546-ED21-60F3-8589BFF25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7576" y="1418713"/>
            <a:ext cx="5491399" cy="20102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20000"/>
              <a:buBlip>
                <a:blip r:embed="rId4"/>
              </a:buBlip>
            </a:pP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COZMO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の中からリーダーを選出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  <a:buBlip>
                <a:blip r:embed="rId4"/>
              </a:buBlip>
            </a:pPr>
            <a:endParaRPr lang="en-US" altLang="ja-JP" sz="9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バッテリー残量やロボットの状態管理から、</a:t>
            </a:r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COZMO</a:t>
            </a: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内でリーダーを選出する。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コンテンツ プレースホルダー 2">
            <a:extLst>
              <a:ext uri="{FF2B5EF4-FFF2-40B4-BE49-F238E27FC236}">
                <a16:creationId xmlns:a16="http://schemas.microsoft.com/office/drawing/2014/main" id="{B182DC80-DFC8-D71C-0051-AC06E6FBB8A1}"/>
              </a:ext>
            </a:extLst>
          </p:cNvPr>
          <p:cNvSpPr txBox="1">
            <a:spLocks/>
          </p:cNvSpPr>
          <p:nvPr/>
        </p:nvSpPr>
        <p:spPr>
          <a:xfrm>
            <a:off x="399672" y="4377854"/>
            <a:ext cx="5807348" cy="2095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SzPct val="120000"/>
              <a:buFont typeface="Arial" panose="020B0604020202020204" pitchFamily="34" charset="0"/>
              <a:buBlip>
                <a:blip r:embed="rId4"/>
              </a:buBlip>
            </a:pP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リーダーが配送指示をフェロモンで共有</a:t>
            </a:r>
            <a:endParaRPr lang="en-US" altLang="ja-JP" sz="8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配送指示を受け取ったリーダー</a:t>
            </a:r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COZMO</a:t>
            </a: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が、フェロモンに引力を持たせる通信を発生させ、引力で集まった</a:t>
            </a:r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COZMO</a:t>
            </a: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が配送。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1DA5FFA-0362-F0A5-B38C-01BC22B6AA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425" y="809238"/>
            <a:ext cx="4776126" cy="3184084"/>
          </a:xfrm>
          <a:prstGeom prst="roundRect">
            <a:avLst>
              <a:gd name="adj" fmla="val 3473"/>
            </a:avLst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781C83D-C96B-9BD8-9A09-3C9F3B11B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212" y="4159020"/>
            <a:ext cx="3628584" cy="2419056"/>
          </a:xfrm>
          <a:prstGeom prst="roundRect">
            <a:avLst>
              <a:gd name="adj" fmla="val 3952"/>
            </a:avLst>
          </a:prstGeom>
        </p:spPr>
      </p:pic>
      <p:sp>
        <p:nvSpPr>
          <p:cNvPr id="28" name="タイトル 1">
            <a:extLst>
              <a:ext uri="{FF2B5EF4-FFF2-40B4-BE49-F238E27FC236}">
                <a16:creationId xmlns:a16="http://schemas.microsoft.com/office/drawing/2014/main" id="{6D9BAB01-6088-4480-C32C-D48D1AF1218A}"/>
              </a:ext>
            </a:extLst>
          </p:cNvPr>
          <p:cNvSpPr txBox="1">
            <a:spLocks/>
          </p:cNvSpPr>
          <p:nvPr/>
        </p:nvSpPr>
        <p:spPr>
          <a:xfrm>
            <a:off x="3784768" y="119277"/>
            <a:ext cx="7895009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２．研究内容 ～低コストで実現するアプローチ方法 ～</a:t>
            </a:r>
          </a:p>
        </p:txBody>
      </p:sp>
    </p:spTree>
    <p:extLst>
      <p:ext uri="{BB962C8B-B14F-4D97-AF65-F5344CB8AC3E}">
        <p14:creationId xmlns:p14="http://schemas.microsoft.com/office/powerpoint/2010/main" val="1761870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1F4C836-1420-33E6-2F62-B386611A2E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F7165074-48EC-DF06-BCD3-24E2DEC1956A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DADFE73-B47A-C4F2-07CB-59258BE29DE5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TextBox 7">
              <a:extLst>
                <a:ext uri="{FF2B5EF4-FFF2-40B4-BE49-F238E27FC236}">
                  <a16:creationId xmlns:a16="http://schemas.microsoft.com/office/drawing/2014/main" id="{C7F58509-F645-92BA-3A3F-CB42871A0AE9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2">
            <a:extLst>
              <a:ext uri="{FF2B5EF4-FFF2-40B4-BE49-F238E27FC236}">
                <a16:creationId xmlns:a16="http://schemas.microsoft.com/office/drawing/2014/main" id="{1054FA1C-F53B-69FF-F311-6116E8D9A19C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4B65A5DA-A7B5-BF90-A9C4-6A1DD86E3417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764C1358-9325-C004-6485-EBA955C8BF05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10" name="図 9">
            <a:extLst>
              <a:ext uri="{FF2B5EF4-FFF2-40B4-BE49-F238E27FC236}">
                <a16:creationId xmlns:a16="http://schemas.microsoft.com/office/drawing/2014/main" id="{D7E3242D-8DC7-48F5-C80D-FDC8918B4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517" y="761832"/>
            <a:ext cx="9144252" cy="6096168"/>
          </a:xfrm>
          <a:prstGeom prst="roundRect">
            <a:avLst>
              <a:gd name="adj" fmla="val 1391"/>
            </a:avLst>
          </a:prstGeom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178E8A0-E6A5-012C-D529-30DF96CAD3C0}"/>
              </a:ext>
            </a:extLst>
          </p:cNvPr>
          <p:cNvGrpSpPr/>
          <p:nvPr/>
        </p:nvGrpSpPr>
        <p:grpSpPr>
          <a:xfrm>
            <a:off x="10684845" y="1613134"/>
            <a:ext cx="1190244" cy="4101866"/>
            <a:chOff x="10111872" y="1484964"/>
            <a:chExt cx="773286" cy="2974741"/>
          </a:xfrm>
        </p:grpSpPr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5FB8B065-F57F-94A6-9B29-CE0603E587D8}"/>
                </a:ext>
              </a:extLst>
            </p:cNvPr>
            <p:cNvSpPr/>
            <p:nvPr/>
          </p:nvSpPr>
          <p:spPr>
            <a:xfrm>
              <a:off x="10111872" y="1484964"/>
              <a:ext cx="773286" cy="29747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990FE3B0-3F54-F0AA-12BB-A394EAD99CE3}"/>
                </a:ext>
              </a:extLst>
            </p:cNvPr>
            <p:cNvSpPr txBox="1"/>
            <p:nvPr/>
          </p:nvSpPr>
          <p:spPr>
            <a:xfrm>
              <a:off x="10258564" y="2407868"/>
              <a:ext cx="479900" cy="197207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この画像をゆっくり確認したい方はこちら</a:t>
              </a:r>
              <a:endPara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pic>
        <p:nvPicPr>
          <p:cNvPr id="14" name="図 13">
            <a:extLst>
              <a:ext uri="{FF2B5EF4-FFF2-40B4-BE49-F238E27FC236}">
                <a16:creationId xmlns:a16="http://schemas.microsoft.com/office/drawing/2014/main" id="{8D8FD4F7-CE4D-F128-EB5C-47ED57822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695" y="1701158"/>
            <a:ext cx="1096543" cy="1096543"/>
          </a:xfrm>
          <a:prstGeom prst="roundRect">
            <a:avLst>
              <a:gd name="adj" fmla="val 10140"/>
            </a:avLst>
          </a:prstGeom>
        </p:spPr>
      </p:pic>
      <p:sp>
        <p:nvSpPr>
          <p:cNvPr id="15" name="タイトル 1">
            <a:extLst>
              <a:ext uri="{FF2B5EF4-FFF2-40B4-BE49-F238E27FC236}">
                <a16:creationId xmlns:a16="http://schemas.microsoft.com/office/drawing/2014/main" id="{7BB3C273-AA94-777E-2D01-F3C4456D53B5}"/>
              </a:ext>
            </a:extLst>
          </p:cNvPr>
          <p:cNvSpPr txBox="1">
            <a:spLocks/>
          </p:cNvSpPr>
          <p:nvPr/>
        </p:nvSpPr>
        <p:spPr>
          <a:xfrm>
            <a:off x="3784768" y="119277"/>
            <a:ext cx="7895009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２．研究内容 ～低コストで実現するアプローチ方法 ～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DD1527AB-C656-A9E3-97CC-49F1FF71A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3432EBB0-195E-DBD0-20BB-9F76567BDD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13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E790D-EF89-6C05-6B0B-A93084F2C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CF8A2F1-AC89-BC3C-0B14-3F15153699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F775216-571B-BF5A-393B-863D4BAD1700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1FC8FCF-5C64-737A-4E19-5553D7753F4B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8C99AB0-6504-4F63-EE61-72205A8992AE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9138FF5C-6212-97FA-5B2C-8D64EA3BAB50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8F5B74D4-0F52-8523-035A-946334E6CFA5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6E413CCD-E70F-195C-4DE1-9A90DCFC7491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756BDFF-7CD2-C14C-EBD4-86635AF386E0}"/>
              </a:ext>
            </a:extLst>
          </p:cNvPr>
          <p:cNvSpPr txBox="1"/>
          <p:nvPr/>
        </p:nvSpPr>
        <p:spPr>
          <a:xfrm>
            <a:off x="508672" y="2615624"/>
            <a:ext cx="1128163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２．研究内容</a:t>
            </a:r>
            <a:endParaRPr kumimoji="1" lang="en-US" altLang="ja-JP" sz="6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/>
            <a:endParaRPr kumimoji="1" lang="en-US" altLang="ja-JP" sz="1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/>
            <a:r>
              <a:rPr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～ </a:t>
            </a:r>
            <a:r>
              <a:rPr kumimoji="1"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現在地補正のアプローチ方法 </a:t>
            </a:r>
            <a:r>
              <a:rPr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～</a:t>
            </a:r>
            <a:endParaRPr kumimoji="1" lang="en-US" altLang="ja-JP" sz="4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173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DF9127-C826-C57E-F635-C6475C2DC2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12" name="Group 5">
            <a:extLst>
              <a:ext uri="{FF2B5EF4-FFF2-40B4-BE49-F238E27FC236}">
                <a16:creationId xmlns:a16="http://schemas.microsoft.com/office/drawing/2014/main" id="{1505BC78-3827-4695-3632-C492BC0D5899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F00B743-1210-CE49-3294-EB968E193A5A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B99A2945-3C2A-9BE6-1615-8440CA4A59AD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2">
            <a:extLst>
              <a:ext uri="{FF2B5EF4-FFF2-40B4-BE49-F238E27FC236}">
                <a16:creationId xmlns:a16="http://schemas.microsoft.com/office/drawing/2014/main" id="{23B0EB6C-6DB5-889F-63C7-79D52098661E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9F0D6932-B0DB-F507-2A15-68B4D03ECB67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5BC86CC1-02C8-A7C9-B944-FAA0CCB3FE75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タイトル 1">
            <a:extLst>
              <a:ext uri="{FF2B5EF4-FFF2-40B4-BE49-F238E27FC236}">
                <a16:creationId xmlns:a16="http://schemas.microsoft.com/office/drawing/2014/main" id="{93932CA8-A092-BC6B-8887-2537EF7C6C49}"/>
              </a:ext>
            </a:extLst>
          </p:cNvPr>
          <p:cNvSpPr txBox="1">
            <a:spLocks/>
          </p:cNvSpPr>
          <p:nvPr/>
        </p:nvSpPr>
        <p:spPr>
          <a:xfrm>
            <a:off x="4923227" y="119277"/>
            <a:ext cx="6756550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２．研究内容 ～現在地補正のアプローチ方法～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870F9C1-A415-C18F-324B-1D00D489C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1CB7EDD3-1900-BC36-311C-D3F701C12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D8475DEA-8E15-46DA-8C54-589B550BC1F0}"/>
              </a:ext>
            </a:extLst>
          </p:cNvPr>
          <p:cNvGrpSpPr/>
          <p:nvPr/>
        </p:nvGrpSpPr>
        <p:grpSpPr>
          <a:xfrm>
            <a:off x="1411391" y="1361645"/>
            <a:ext cx="9717516" cy="4675572"/>
            <a:chOff x="1237242" y="2088838"/>
            <a:chExt cx="9717516" cy="4675572"/>
          </a:xfrm>
        </p:grpSpPr>
        <p:pic>
          <p:nvPicPr>
            <p:cNvPr id="18" name="図 17" descr="Logo de yolo アイコン、ロゴ、シンボル – 無料ダウンロード PNG、SVG">
              <a:extLst>
                <a:ext uri="{FF2B5EF4-FFF2-40B4-BE49-F238E27FC236}">
                  <a16:creationId xmlns:a16="http://schemas.microsoft.com/office/drawing/2014/main" id="{D6E51C04-39AB-9779-9F4A-2E9F19681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/>
          </p:blipFill>
          <p:spPr>
            <a:xfrm>
              <a:off x="1975101" y="2147552"/>
              <a:ext cx="1304925" cy="1304925"/>
            </a:xfrm>
            <a:prstGeom prst="rect">
              <a:avLst/>
            </a:prstGeom>
          </p:spPr>
        </p:pic>
        <p:pic>
          <p:nvPicPr>
            <p:cNvPr id="19" name="図 18" descr="Opencv ロゴ の アイコン">
              <a:extLst>
                <a:ext uri="{FF2B5EF4-FFF2-40B4-BE49-F238E27FC236}">
                  <a16:creationId xmlns:a16="http://schemas.microsoft.com/office/drawing/2014/main" id="{C6EA6A4E-245E-24AC-8E45-A4BAA7A44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7242" y="3573535"/>
              <a:ext cx="2514600" cy="1257300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08D99AC7-4319-2E1F-22CD-A47E9565C498}"/>
                </a:ext>
              </a:extLst>
            </p:cNvPr>
            <p:cNvSpPr txBox="1"/>
            <p:nvPr/>
          </p:nvSpPr>
          <p:spPr>
            <a:xfrm>
              <a:off x="4096758" y="3755909"/>
              <a:ext cx="6858000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ans JP Black" panose="020B0200000000000000" pitchFamily="50" charset="-128"/>
                  <a:ea typeface="Noto Sans JP Black" panose="020B0200000000000000" pitchFamily="50" charset="-128"/>
                </a:rPr>
                <a:t>OpenCV </a:t>
              </a:r>
              <a:r>
                <a:rPr kumimoji="1" lang="ja-JP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ans JP Black" panose="020B0200000000000000" pitchFamily="50" charset="-128"/>
                  <a:ea typeface="Noto Sans JP Black" panose="020B0200000000000000" pitchFamily="50" charset="-128"/>
                </a:rPr>
                <a:t>オープンシーブイ</a:t>
              </a:r>
              <a:endParaRPr kumimoji="1" lang="en-US" altLang="ja-JP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JP Black" panose="020B0200000000000000" pitchFamily="50" charset="-128"/>
                <a:ea typeface="Noto Sans JP Black" panose="020B0200000000000000" pitchFamily="50" charset="-128"/>
              </a:endParaRPr>
            </a:p>
            <a:p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画像処理や画像解析に活用される</a:t>
              </a:r>
              <a:r>
                <a:rPr kumimoji="1" lang="en-US" altLang="ja-JP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OSS</a:t>
              </a:r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ライブラリ</a:t>
              </a: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1DA2C5CA-EB01-4B40-6C55-2398A6A4B218}"/>
                </a:ext>
              </a:extLst>
            </p:cNvPr>
            <p:cNvSpPr txBox="1"/>
            <p:nvPr/>
          </p:nvSpPr>
          <p:spPr>
            <a:xfrm>
              <a:off x="4096755" y="2088838"/>
              <a:ext cx="558377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ans JP Black" panose="020B0200000000000000" pitchFamily="50" charset="-128"/>
                  <a:ea typeface="Noto Sans JP Black" panose="020B0200000000000000" pitchFamily="50" charset="-128"/>
                </a:rPr>
                <a:t>YOLO </a:t>
              </a:r>
              <a:r>
                <a:rPr lang="ja-JP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ans JP Black" panose="020B0200000000000000" pitchFamily="50" charset="-128"/>
                  <a:ea typeface="Noto Sans JP Black" panose="020B0200000000000000" pitchFamily="50" charset="-128"/>
                </a:rPr>
                <a:t>ヨロ</a:t>
              </a:r>
              <a:endParaRPr kumimoji="1" lang="en-US" altLang="ja-J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JP Black" panose="020B0200000000000000" pitchFamily="50" charset="-128"/>
                <a:ea typeface="Noto Sans JP Black" panose="020B0200000000000000" pitchFamily="50" charset="-128"/>
              </a:endParaRPr>
            </a:p>
            <a:p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画像や映像内に「何が」「どこに」あるかを</a:t>
              </a:r>
              <a:endPara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リアルタイムで物体検出する技術</a:t>
              </a:r>
            </a:p>
          </p:txBody>
        </p:sp>
        <p:pic>
          <p:nvPicPr>
            <p:cNvPr id="23" name="図 22" descr="SLAM導入支援サービス - スマートシティ/モビリティ - マクニカ">
              <a:extLst>
                <a:ext uri="{FF2B5EF4-FFF2-40B4-BE49-F238E27FC236}">
                  <a16:creationId xmlns:a16="http://schemas.microsoft.com/office/drawing/2014/main" id="{BF05F62F-7C56-CD8D-A02A-D9ED84467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75064" y="4859410"/>
              <a:ext cx="1905000" cy="1905000"/>
            </a:xfrm>
            <a:prstGeom prst="rect">
              <a:avLst/>
            </a:prstGeom>
          </p:spPr>
        </p:pic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131910D-4982-541D-A1A1-96618572B76F}"/>
                </a:ext>
              </a:extLst>
            </p:cNvPr>
            <p:cNvSpPr txBox="1"/>
            <p:nvPr/>
          </p:nvSpPr>
          <p:spPr>
            <a:xfrm>
              <a:off x="4096755" y="5164751"/>
              <a:ext cx="6725668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ans JP Black" panose="020B0200000000000000" pitchFamily="50" charset="-128"/>
                  <a:ea typeface="Noto Sans JP Black" panose="020B0200000000000000" pitchFamily="50" charset="-128"/>
                </a:rPr>
                <a:t>SLAM </a:t>
              </a:r>
              <a:r>
                <a:rPr lang="ja-JP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ans JP Black" panose="020B0200000000000000" pitchFamily="50" charset="-128"/>
                  <a:ea typeface="Noto Sans JP Black" panose="020B0200000000000000" pitchFamily="50" charset="-128"/>
                </a:rPr>
                <a:t>スラム</a:t>
              </a:r>
              <a:endParaRPr lang="en-US" altLang="ja-JP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JP Black" panose="020B0200000000000000" pitchFamily="50" charset="-128"/>
                <a:ea typeface="Noto Sans JP Black" panose="020B0200000000000000" pitchFamily="50" charset="-128"/>
              </a:endParaRPr>
            </a:p>
            <a:p>
              <a:r>
                <a:rPr lang="ja-JP" altLang="ja-JP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移動体が自身の「現在位置の推定」と周囲の「環境地図の作成」をリアルタイムで同時に行う技術</a:t>
              </a:r>
              <a:endPara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8317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D477F36-036E-1FBA-569E-3122B255E4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22A9331A-851D-1BB3-EA31-90EC3E34A56C}"/>
              </a:ext>
            </a:extLst>
          </p:cNvPr>
          <p:cNvSpPr/>
          <p:nvPr/>
        </p:nvSpPr>
        <p:spPr>
          <a:xfrm>
            <a:off x="5749848" y="1752460"/>
            <a:ext cx="5929927" cy="594492"/>
          </a:xfrm>
          <a:prstGeom prst="roundRect">
            <a:avLst>
              <a:gd name="adj" fmla="val 4835"/>
            </a:avLst>
          </a:prstGeom>
          <a:solidFill>
            <a:srgbClr val="00B05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76B0A1DC-2CB6-E29B-D8AF-0CFBEA97C176}"/>
              </a:ext>
            </a:extLst>
          </p:cNvPr>
          <p:cNvSpPr/>
          <p:nvPr/>
        </p:nvSpPr>
        <p:spPr>
          <a:xfrm>
            <a:off x="5749848" y="2463594"/>
            <a:ext cx="5929927" cy="1139864"/>
          </a:xfrm>
          <a:prstGeom prst="roundRect">
            <a:avLst>
              <a:gd name="adj" fmla="val 4835"/>
            </a:avLst>
          </a:prstGeom>
          <a:solidFill>
            <a:srgbClr val="FF0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23CEB5-6EA2-04CE-161C-BFE7DD084754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738A7AE-A81E-2589-7A30-FFEC7E182CDF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3A1D2A-B9B7-BE73-4AFE-CB06D273E9CE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60F2B436-B19A-25DF-4849-C95517775F73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9C8FAFBD-2ECD-61BD-FC0F-AE8AEF6CEF4C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334D2619-B308-F178-219A-5F0C10FAC501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15" name="図 14" descr="机 イラスト 上からの検索結果 - Yahoo!きっず検索">
            <a:extLst>
              <a:ext uri="{FF2B5EF4-FFF2-40B4-BE49-F238E27FC236}">
                <a16:creationId xmlns:a16="http://schemas.microsoft.com/office/drawing/2014/main" id="{A86A0EFB-02E5-0124-5CA8-24C39175C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39848" y="1464309"/>
            <a:ext cx="6510754" cy="4876782"/>
          </a:xfrm>
          <a:prstGeom prst="rect">
            <a:avLst/>
          </a:prstGeom>
        </p:spPr>
      </p:pic>
      <p:pic>
        <p:nvPicPr>
          <p:cNvPr id="16" name="図 15" descr="COZMO SDK：Tutorials Basics 09 – しかるのち">
            <a:extLst>
              <a:ext uri="{FF2B5EF4-FFF2-40B4-BE49-F238E27FC236}">
                <a16:creationId xmlns:a16="http://schemas.microsoft.com/office/drawing/2014/main" id="{0E5CD2BA-6A5B-364F-C18F-AF58C3596E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76" t="17919" r="31885" b="32965"/>
          <a:stretch>
            <a:fillRect/>
          </a:stretch>
        </p:blipFill>
        <p:spPr>
          <a:xfrm>
            <a:off x="2162522" y="2555542"/>
            <a:ext cx="566670" cy="674724"/>
          </a:xfrm>
          <a:prstGeom prst="rect">
            <a:avLst/>
          </a:prstGeom>
        </p:spPr>
      </p:pic>
      <p:pic>
        <p:nvPicPr>
          <p:cNvPr id="17" name="図 16" descr="COZMO SDK：Tutorials Basics 09 – しかるのち">
            <a:extLst>
              <a:ext uri="{FF2B5EF4-FFF2-40B4-BE49-F238E27FC236}">
                <a16:creationId xmlns:a16="http://schemas.microsoft.com/office/drawing/2014/main" id="{D40CE474-9AF2-A3A8-0094-0778182696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76" t="17919" r="31885" b="32965"/>
          <a:stretch>
            <a:fillRect/>
          </a:stretch>
        </p:blipFill>
        <p:spPr>
          <a:xfrm>
            <a:off x="4476615" y="2555542"/>
            <a:ext cx="566670" cy="674724"/>
          </a:xfrm>
          <a:prstGeom prst="rect">
            <a:avLst/>
          </a:prstGeom>
        </p:spPr>
      </p:pic>
      <p:pic>
        <p:nvPicPr>
          <p:cNvPr id="18" name="図 17" descr="COZMO SDK：Tutorials Basics 09 – しかるのち">
            <a:extLst>
              <a:ext uri="{FF2B5EF4-FFF2-40B4-BE49-F238E27FC236}">
                <a16:creationId xmlns:a16="http://schemas.microsoft.com/office/drawing/2014/main" id="{01426472-66D5-FEA7-4004-5C35502CA8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76" t="17919" r="31885" b="32965"/>
          <a:stretch>
            <a:fillRect/>
          </a:stretch>
        </p:blipFill>
        <p:spPr>
          <a:xfrm>
            <a:off x="1930975" y="3508448"/>
            <a:ext cx="566670" cy="674724"/>
          </a:xfrm>
          <a:prstGeom prst="rect">
            <a:avLst/>
          </a:prstGeom>
        </p:spPr>
      </p:pic>
      <p:pic>
        <p:nvPicPr>
          <p:cNvPr id="19" name="図 18" descr="COZMO SDK：Tutorials Basics 09 – しかるのち">
            <a:extLst>
              <a:ext uri="{FF2B5EF4-FFF2-40B4-BE49-F238E27FC236}">
                <a16:creationId xmlns:a16="http://schemas.microsoft.com/office/drawing/2014/main" id="{6F3EFC1F-0B79-C2C0-BC3C-3DBCAC9AB8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76" t="17919" r="31885" b="32965"/>
          <a:stretch>
            <a:fillRect/>
          </a:stretch>
        </p:blipFill>
        <p:spPr>
          <a:xfrm>
            <a:off x="4660174" y="3508448"/>
            <a:ext cx="566670" cy="674724"/>
          </a:xfrm>
          <a:prstGeom prst="rect">
            <a:avLst/>
          </a:prstGeom>
        </p:spPr>
      </p:pic>
      <p:sp>
        <p:nvSpPr>
          <p:cNvPr id="21" name="タイトル 1">
            <a:extLst>
              <a:ext uri="{FF2B5EF4-FFF2-40B4-BE49-F238E27FC236}">
                <a16:creationId xmlns:a16="http://schemas.microsoft.com/office/drawing/2014/main" id="{E4483B45-9ABC-7207-A570-C1CA69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現在地補正はどうやるの？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F3E5817E-2AF3-2520-6B8E-A94C83ACCC96}"/>
              </a:ext>
            </a:extLst>
          </p:cNvPr>
          <p:cNvSpPr/>
          <p:nvPr/>
        </p:nvSpPr>
        <p:spPr>
          <a:xfrm>
            <a:off x="2485293" y="2763374"/>
            <a:ext cx="2427668" cy="77273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61D10839-B353-DC03-64A6-569237F3313B}"/>
              </a:ext>
            </a:extLst>
          </p:cNvPr>
          <p:cNvSpPr/>
          <p:nvPr/>
        </p:nvSpPr>
        <p:spPr>
          <a:xfrm>
            <a:off x="2248228" y="3731198"/>
            <a:ext cx="2795057" cy="86992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E726A76C-63A9-9629-CB5B-1228D53740FE}"/>
              </a:ext>
            </a:extLst>
          </p:cNvPr>
          <p:cNvSpPr/>
          <p:nvPr/>
        </p:nvSpPr>
        <p:spPr>
          <a:xfrm rot="16948766" flipV="1">
            <a:off x="1867267" y="3251419"/>
            <a:ext cx="1054940" cy="687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DEDEE796-D5A0-7066-CEC9-E8A442E4A74E}"/>
              </a:ext>
            </a:extLst>
          </p:cNvPr>
          <p:cNvSpPr/>
          <p:nvPr/>
        </p:nvSpPr>
        <p:spPr>
          <a:xfrm rot="15634743" flipV="1">
            <a:off x="4414360" y="3251605"/>
            <a:ext cx="1052907" cy="74419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図 27" descr="プログラミング学習にオススメ！ 人になついて成長するAIロボ『COZMO（コズモ）』｜KDDI トビラ">
            <a:extLst>
              <a:ext uri="{FF2B5EF4-FFF2-40B4-BE49-F238E27FC236}">
                <a16:creationId xmlns:a16="http://schemas.microsoft.com/office/drawing/2014/main" id="{6546BD60-256F-923B-4D3D-60AC35753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027936" y="2852421"/>
            <a:ext cx="1137826" cy="836776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F9C8A7A8-1271-8AA5-344C-8AE794915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115" y="4310080"/>
            <a:ext cx="3832896" cy="2168507"/>
          </a:xfrm>
          <a:prstGeom prst="flowChartAlternateProcess">
            <a:avLst/>
          </a:prstGeom>
        </p:spPr>
      </p:pic>
      <p:sp>
        <p:nvSpPr>
          <p:cNvPr id="32" name="タイトル 1">
            <a:extLst>
              <a:ext uri="{FF2B5EF4-FFF2-40B4-BE49-F238E27FC236}">
                <a16:creationId xmlns:a16="http://schemas.microsoft.com/office/drawing/2014/main" id="{C792CB37-03AA-2B6C-BC63-5A7B1FBC9F7E}"/>
              </a:ext>
            </a:extLst>
          </p:cNvPr>
          <p:cNvSpPr txBox="1">
            <a:spLocks/>
          </p:cNvSpPr>
          <p:nvPr/>
        </p:nvSpPr>
        <p:spPr>
          <a:xfrm>
            <a:off x="6921445" y="3695546"/>
            <a:ext cx="3561250" cy="748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PC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画面でのイメージ</a:t>
            </a:r>
          </a:p>
        </p:txBody>
      </p:sp>
      <p:sp>
        <p:nvSpPr>
          <p:cNvPr id="33" name="タイトル 1">
            <a:extLst>
              <a:ext uri="{FF2B5EF4-FFF2-40B4-BE49-F238E27FC236}">
                <a16:creationId xmlns:a16="http://schemas.microsoft.com/office/drawing/2014/main" id="{4D238FFD-B6A4-9B7C-3DA3-F42806F27689}"/>
              </a:ext>
            </a:extLst>
          </p:cNvPr>
          <p:cNvSpPr txBox="1">
            <a:spLocks/>
          </p:cNvSpPr>
          <p:nvPr/>
        </p:nvSpPr>
        <p:spPr>
          <a:xfrm>
            <a:off x="5818349" y="1677210"/>
            <a:ext cx="5791563" cy="20411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SzPct val="120000"/>
              <a:buBlip>
                <a:blip r:embed="rId6"/>
              </a:buBlip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机上からの落下を高確率で防げる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20000"/>
            </a:pP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buSzPct val="120000"/>
              <a:buBlip>
                <a:blip r:embed="rId6"/>
              </a:buBlip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現在地が明確に分かるようになり、倉庫内の場所を適切に把握し、業務を遂行できる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107ED3DC-CA61-0883-6874-93A976671EC8}"/>
              </a:ext>
            </a:extLst>
          </p:cNvPr>
          <p:cNvSpPr/>
          <p:nvPr/>
        </p:nvSpPr>
        <p:spPr>
          <a:xfrm>
            <a:off x="339848" y="6325256"/>
            <a:ext cx="3810001" cy="395791"/>
          </a:xfrm>
          <a:prstGeom prst="roundRect">
            <a:avLst>
              <a:gd name="adj" fmla="val 4835"/>
            </a:avLst>
          </a:prstGeom>
          <a:solidFill>
            <a:schemeClr val="tx2">
              <a:lumMod val="10000"/>
              <a:lumOff val="9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</a:rPr>
              <a:t>　　この技術の実演はありません</a:t>
            </a:r>
          </a:p>
        </p:txBody>
      </p:sp>
      <p:pic>
        <p:nvPicPr>
          <p:cNvPr id="37" name="図 36" descr="禁止マークのシルエット | 無料のAi・PNG白黒シルエットイラスト">
            <a:extLst>
              <a:ext uri="{FF2B5EF4-FFF2-40B4-BE49-F238E27FC236}">
                <a16:creationId xmlns:a16="http://schemas.microsoft.com/office/drawing/2014/main" id="{02B60845-9E07-A66B-30A8-F9ABA987801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5000"/>
          </a:blip>
          <a:stretch/>
        </p:blipFill>
        <p:spPr>
          <a:xfrm>
            <a:off x="539081" y="6325256"/>
            <a:ext cx="366964" cy="366964"/>
          </a:xfrm>
          <a:prstGeom prst="rect">
            <a:avLst/>
          </a:prstGeom>
        </p:spPr>
      </p:pic>
      <p:sp>
        <p:nvSpPr>
          <p:cNvPr id="38" name="タイトル 1">
            <a:extLst>
              <a:ext uri="{FF2B5EF4-FFF2-40B4-BE49-F238E27FC236}">
                <a16:creationId xmlns:a16="http://schemas.microsoft.com/office/drawing/2014/main" id="{48435633-8ED8-8324-2031-7AC7416D9BEB}"/>
              </a:ext>
            </a:extLst>
          </p:cNvPr>
          <p:cNvSpPr txBox="1">
            <a:spLocks/>
          </p:cNvSpPr>
          <p:nvPr/>
        </p:nvSpPr>
        <p:spPr>
          <a:xfrm>
            <a:off x="4923227" y="119277"/>
            <a:ext cx="6756550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２．研究内容 ～現在地補正のアプローチ方法～</a:t>
            </a:r>
          </a:p>
        </p:txBody>
      </p:sp>
      <p:pic>
        <p:nvPicPr>
          <p:cNvPr id="39" name="図 38">
            <a:extLst>
              <a:ext uri="{FF2B5EF4-FFF2-40B4-BE49-F238E27FC236}">
                <a16:creationId xmlns:a16="http://schemas.microsoft.com/office/drawing/2014/main" id="{BD6EA434-2CC4-087F-7D65-1EEBD06EE6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C9EC388F-24EA-11B4-FEF4-0ECB6527AA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53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24" grpId="0" animBg="1"/>
      <p:bldP spid="25" grpId="0" animBg="1"/>
      <p:bldP spid="26" grpId="0" animBg="1"/>
      <p:bldP spid="27" grpId="0" animBg="1"/>
      <p:bldP spid="32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BB68191-0085-4F42-A40A-FED3B9F6FB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8268C5-203C-DB38-B8DB-61F851D7D299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347ADDC-F2A3-DA2C-F9D4-D04DD6EB7957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DB0F6F3-54B1-EC37-04EE-BAA266C92961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EF7E34F6-D3A4-C0FC-FB8A-0A353B43EBA4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2D94B67A-92B2-D232-7E4F-70307EC53501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8A7BE828-25FC-25B0-8ABB-B4BCF0F3DC68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0B20FA95-20B4-88EF-BDB1-4B5E1B2A4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078"/>
            <a:ext cx="10515600" cy="1325563"/>
          </a:xfrm>
        </p:spPr>
        <p:txBody>
          <a:bodyPr/>
          <a:lstStyle/>
          <a:p>
            <a:r>
              <a:rPr lang="en-US" altLang="ja-JP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A. SD</a:t>
            </a:r>
            <a:r>
              <a:rPr lang="ja-JP" altLang="en-US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画質カメラでも機械学習で精度向上</a:t>
            </a:r>
            <a:endParaRPr kumimoji="1" lang="ja-JP" altLang="en-US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</p:txBody>
      </p:sp>
      <p:pic>
        <p:nvPicPr>
          <p:cNvPr id="4" name="レコーディング 2026-07-01 142903">
            <a:hlinkClick r:id="" action="ppaction://media"/>
            <a:extLst>
              <a:ext uri="{FF2B5EF4-FFF2-40B4-BE49-F238E27FC236}">
                <a16:creationId xmlns:a16="http://schemas.microsoft.com/office/drawing/2014/main" id="{94243E01-2675-5201-1BC8-D09C93DBAD1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05538" y="1907843"/>
            <a:ext cx="5148262" cy="4351338"/>
          </a:xfrm>
        </p:spPr>
      </p:pic>
      <p:pic>
        <p:nvPicPr>
          <p:cNvPr id="12" name="画面録画 2026-06-06 145517">
            <a:hlinkClick r:id="" action="ppaction://media"/>
            <a:extLst>
              <a:ext uri="{FF2B5EF4-FFF2-40B4-BE49-F238E27FC236}">
                <a16:creationId xmlns:a16="http://schemas.microsoft.com/office/drawing/2014/main" id="{C921D2D9-F9E5-2C5F-F225-9C69E3EB7DD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02446" y="1907843"/>
            <a:ext cx="5148262" cy="4344345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C53F8069-7DA0-66CA-1237-87CE0FE0165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3125"/>
          <a:stretch>
            <a:fillRect/>
          </a:stretch>
        </p:blipFill>
        <p:spPr>
          <a:xfrm>
            <a:off x="5750708" y="5048396"/>
            <a:ext cx="2170438" cy="1928881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2781054C-4C14-C875-5CC3-20AD179B353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6912"/>
          <a:stretch>
            <a:fillRect/>
          </a:stretch>
        </p:blipFill>
        <p:spPr>
          <a:xfrm>
            <a:off x="0" y="5188215"/>
            <a:ext cx="2203923" cy="1729424"/>
          </a:xfrm>
          <a:prstGeom prst="rect">
            <a:avLst/>
          </a:prstGeom>
        </p:spPr>
      </p:pic>
      <p:sp>
        <p:nvSpPr>
          <p:cNvPr id="24" name="タイトル 1">
            <a:extLst>
              <a:ext uri="{FF2B5EF4-FFF2-40B4-BE49-F238E27FC236}">
                <a16:creationId xmlns:a16="http://schemas.microsoft.com/office/drawing/2014/main" id="{F369315D-6A56-5DC5-7E1C-43DB08D4A78B}"/>
              </a:ext>
            </a:extLst>
          </p:cNvPr>
          <p:cNvSpPr txBox="1">
            <a:spLocks/>
          </p:cNvSpPr>
          <p:nvPr/>
        </p:nvSpPr>
        <p:spPr>
          <a:xfrm>
            <a:off x="6402427" y="119277"/>
            <a:ext cx="5277350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３．現在の技術的課題と今後の展望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E8B13148-B711-C7A8-2596-3FD0440170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0A0F7F83-6C38-3571-9C6D-D0D15C95E4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77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99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98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1" fill="remove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 mute="1">
                <p:cTn id="17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F9717D5-381E-BB79-6DE5-2AD280EE91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C274265B-4D96-7588-66AF-39D26861F04D}"/>
              </a:ext>
            </a:extLst>
          </p:cNvPr>
          <p:cNvSpPr/>
          <p:nvPr/>
        </p:nvSpPr>
        <p:spPr>
          <a:xfrm>
            <a:off x="902075" y="6238530"/>
            <a:ext cx="10630283" cy="1139864"/>
          </a:xfrm>
          <a:prstGeom prst="roundRect">
            <a:avLst>
              <a:gd name="adj" fmla="val 50000"/>
            </a:avLst>
          </a:prstGeom>
          <a:solidFill>
            <a:srgbClr val="FF0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075F5AEA-A1B4-1DEF-CF35-602EF66C9600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315FD9C-8427-8C5D-F09A-9F143EAC258E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2E0D373A-EE04-DBF2-DAC0-C92B84AD89CB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43FE25F2-300C-2476-54B4-D41D5D221F9F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A0DE043B-F869-B2EB-CD5A-FB0BA5FB221D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BA355D2A-3695-BCB7-39A2-AF07D791D5D8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2" name="1782798353181_original-31507398-0603-4f4f-a557-5497d79d9e08">
            <a:hlinkClick r:id="" action="ppaction://media"/>
            <a:extLst>
              <a:ext uri="{FF2B5EF4-FFF2-40B4-BE49-F238E27FC236}">
                <a16:creationId xmlns:a16="http://schemas.microsoft.com/office/drawing/2014/main" id="{B1496907-9763-9EF4-687B-92E62B2473B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33187.8777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63305" y="1510891"/>
            <a:ext cx="8278243" cy="4656865"/>
          </a:xfrm>
          <a:prstGeom prst="rect">
            <a:avLst/>
          </a:prstGeom>
        </p:spPr>
      </p:pic>
      <p:sp>
        <p:nvSpPr>
          <p:cNvPr id="10" name="タイトル 1">
            <a:extLst>
              <a:ext uri="{FF2B5EF4-FFF2-40B4-BE49-F238E27FC236}">
                <a16:creationId xmlns:a16="http://schemas.microsoft.com/office/drawing/2014/main" id="{F74CB450-5940-A71D-1CAA-CB0913620943}"/>
              </a:ext>
            </a:extLst>
          </p:cNvPr>
          <p:cNvSpPr txBox="1">
            <a:spLocks/>
          </p:cNvSpPr>
          <p:nvPr/>
        </p:nvSpPr>
        <p:spPr>
          <a:xfrm>
            <a:off x="6402427" y="119277"/>
            <a:ext cx="5277350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３．現在の技術的課題と今後の展望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B3126365-CE4D-BA67-90A3-35A4F7776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A7FDB21-1383-5C61-78D2-BA89090826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sp>
        <p:nvSpPr>
          <p:cNvPr id="13" name="タイトル 1">
            <a:extLst>
              <a:ext uri="{FF2B5EF4-FFF2-40B4-BE49-F238E27FC236}">
                <a16:creationId xmlns:a16="http://schemas.microsoft.com/office/drawing/2014/main" id="{609217AC-1764-9077-7E13-27FD98DDBD88}"/>
              </a:ext>
            </a:extLst>
          </p:cNvPr>
          <p:cNvSpPr txBox="1">
            <a:spLocks/>
          </p:cNvSpPr>
          <p:nvPr/>
        </p:nvSpPr>
        <p:spPr>
          <a:xfrm>
            <a:off x="902075" y="602430"/>
            <a:ext cx="10515600" cy="8026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障害物回避も徐々に</a:t>
            </a:r>
            <a:r>
              <a:rPr lang="en-US" altLang="ja-JP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…</a:t>
            </a: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D81E3DFE-596B-2658-81AE-D0A9C7DE135E}"/>
              </a:ext>
            </a:extLst>
          </p:cNvPr>
          <p:cNvSpPr txBox="1">
            <a:spLocks/>
          </p:cNvSpPr>
          <p:nvPr/>
        </p:nvSpPr>
        <p:spPr>
          <a:xfrm>
            <a:off x="1120012" y="6186972"/>
            <a:ext cx="10079725" cy="621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SzPct val="120000"/>
              <a:buBlip>
                <a:blip r:embed="rId7"/>
              </a:buBlip>
            </a:pP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COZMO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の台数や障害物も徐々に増えるため、</a:t>
            </a:r>
            <a:r>
              <a:rPr lang="ja-JP" alt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インパクトも増す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見込み</a:t>
            </a:r>
          </a:p>
        </p:txBody>
      </p:sp>
    </p:spTree>
    <p:extLst>
      <p:ext uri="{BB962C8B-B14F-4D97-AF65-F5344CB8AC3E}">
        <p14:creationId xmlns:p14="http://schemas.microsoft.com/office/powerpoint/2010/main" val="1724752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3379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7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15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FD57F41-D6E5-3160-A853-E7113E12C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591" y="722788"/>
            <a:ext cx="9202818" cy="6135212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565F2DC-3875-393C-1153-46759BC6B534}"/>
              </a:ext>
            </a:extLst>
          </p:cNvPr>
          <p:cNvSpPr txBox="1">
            <a:spLocks/>
          </p:cNvSpPr>
          <p:nvPr/>
        </p:nvSpPr>
        <p:spPr>
          <a:xfrm>
            <a:off x="6402427" y="119277"/>
            <a:ext cx="5277350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３．現在の技術的課題と今後の展望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DA041BC-6AE8-D42F-A61D-A8FF41798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F9522C2-2D76-7A83-3E79-6A7B04543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974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15455B3-DB05-31C3-41B7-6A0B870752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Group 5">
            <a:extLst>
              <a:ext uri="{FF2B5EF4-FFF2-40B4-BE49-F238E27FC236}">
                <a16:creationId xmlns:a16="http://schemas.microsoft.com/office/drawing/2014/main" id="{D221BF96-C258-E0A3-1927-07991321A7B7}"/>
              </a:ext>
            </a:extLst>
          </p:cNvPr>
          <p:cNvGrpSpPr/>
          <p:nvPr/>
        </p:nvGrpSpPr>
        <p:grpSpPr>
          <a:xfrm>
            <a:off x="-1182437" y="4587875"/>
            <a:ext cx="3810000" cy="3810000"/>
            <a:chOff x="0" y="0"/>
            <a:chExt cx="5080000" cy="5080000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2818A500-6EED-0863-15FA-3C0B0722B5A2}"/>
                </a:ext>
              </a:extLst>
            </p:cNvPr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2540000" y="0"/>
                  </a:moveTo>
                  <a:cubicBezTo>
                    <a:pt x="1137197" y="0"/>
                    <a:pt x="0" y="1137197"/>
                    <a:pt x="0" y="2540000"/>
                  </a:cubicBezTo>
                  <a:cubicBezTo>
                    <a:pt x="0" y="3942803"/>
                    <a:pt x="1137197" y="5080000"/>
                    <a:pt x="2540000" y="5080000"/>
                  </a:cubicBezTo>
                  <a:cubicBezTo>
                    <a:pt x="3942803" y="5080000"/>
                    <a:pt x="5080000" y="3942803"/>
                    <a:pt x="5080000" y="2540000"/>
                  </a:cubicBezTo>
                  <a:cubicBezTo>
                    <a:pt x="5080000" y="1137197"/>
                    <a:pt x="3942803" y="0"/>
                    <a:pt x="2540000" y="0"/>
                  </a:cubicBezTo>
                  <a:close/>
                </a:path>
              </a:pathLst>
            </a:custGeom>
            <a:solidFill>
              <a:srgbClr val="7209B7">
                <a:alpha val="19608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5B2E7E4A-DE3D-C3D5-28FC-CB06E2C17724}"/>
                </a:ext>
              </a:extLst>
            </p:cNvPr>
            <p:cNvSpPr txBox="1"/>
            <p:nvPr/>
          </p:nvSpPr>
          <p:spPr>
            <a:xfrm>
              <a:off x="0" y="-38100"/>
              <a:ext cx="5080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">
            <a:extLst>
              <a:ext uri="{FF2B5EF4-FFF2-40B4-BE49-F238E27FC236}">
                <a16:creationId xmlns:a16="http://schemas.microsoft.com/office/drawing/2014/main" id="{7B6AD64D-2D6F-3892-4CF2-03772553277B}"/>
              </a:ext>
            </a:extLst>
          </p:cNvPr>
          <p:cNvGrpSpPr/>
          <p:nvPr/>
        </p:nvGrpSpPr>
        <p:grpSpPr>
          <a:xfrm>
            <a:off x="8271407" y="-1555980"/>
            <a:ext cx="5715000" cy="5715000"/>
            <a:chOff x="0" y="0"/>
            <a:chExt cx="7620000" cy="7620000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870D5007-90B9-E232-7AA4-94CEB7B61504}"/>
                </a:ext>
              </a:extLst>
            </p:cNvPr>
            <p:cNvSpPr/>
            <p:nvPr/>
          </p:nvSpPr>
          <p:spPr>
            <a:xfrm>
              <a:off x="0" y="0"/>
              <a:ext cx="7620000" cy="7620000"/>
            </a:xfrm>
            <a:custGeom>
              <a:avLst/>
              <a:gdLst/>
              <a:ahLst/>
              <a:cxnLst/>
              <a:rect l="l" t="t" r="r" b="b"/>
              <a:pathLst>
                <a:path w="7620000" h="7620000">
                  <a:moveTo>
                    <a:pt x="3810000" y="0"/>
                  </a:moveTo>
                  <a:cubicBezTo>
                    <a:pt x="1705795" y="0"/>
                    <a:pt x="0" y="1705795"/>
                    <a:pt x="0" y="3810000"/>
                  </a:cubicBezTo>
                  <a:cubicBezTo>
                    <a:pt x="0" y="5914205"/>
                    <a:pt x="1705795" y="7620000"/>
                    <a:pt x="3810000" y="7620000"/>
                  </a:cubicBezTo>
                  <a:cubicBezTo>
                    <a:pt x="5914205" y="7620000"/>
                    <a:pt x="7620000" y="5914205"/>
                    <a:pt x="7620000" y="3810000"/>
                  </a:cubicBezTo>
                  <a:cubicBezTo>
                    <a:pt x="7620000" y="1705795"/>
                    <a:pt x="5914205" y="0"/>
                    <a:pt x="3810000" y="0"/>
                  </a:cubicBezTo>
                  <a:close/>
                </a:path>
              </a:pathLst>
            </a:custGeom>
            <a:solidFill>
              <a:srgbClr val="4361EE">
                <a:alpha val="14902"/>
              </a:srgbClr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TextBox 4">
              <a:extLst>
                <a:ext uri="{FF2B5EF4-FFF2-40B4-BE49-F238E27FC236}">
                  <a16:creationId xmlns:a16="http://schemas.microsoft.com/office/drawing/2014/main" id="{1492F64A-3883-B645-4B42-B590B6C279CD}"/>
                </a:ext>
              </a:extLst>
            </p:cNvPr>
            <p:cNvSpPr txBox="1"/>
            <p:nvPr/>
          </p:nvSpPr>
          <p:spPr>
            <a:xfrm>
              <a:off x="0" y="-38100"/>
              <a:ext cx="7620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5" name="図 4">
            <a:extLst>
              <a:ext uri="{FF2B5EF4-FFF2-40B4-BE49-F238E27FC236}">
                <a16:creationId xmlns:a16="http://schemas.microsoft.com/office/drawing/2014/main" id="{44A6BCA6-129A-14F9-3D09-668F4C221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1" cy="6858000"/>
          </a:xfrm>
          <a:prstGeom prst="rect">
            <a:avLst/>
          </a:prstGeom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B2FB02C9-DA76-86F2-E6A2-73E404503F1B}"/>
              </a:ext>
            </a:extLst>
          </p:cNvPr>
          <p:cNvSpPr txBox="1">
            <a:spLocks/>
          </p:cNvSpPr>
          <p:nvPr/>
        </p:nvSpPr>
        <p:spPr>
          <a:xfrm>
            <a:off x="10685798" y="221703"/>
            <a:ext cx="894931" cy="2608265"/>
          </a:xfrm>
          <a:prstGeom prst="rect">
            <a:avLst/>
          </a:prstGeom>
        </p:spPr>
        <p:txBody>
          <a:bodyPr vert="eaVer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４．質疑応答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3FC08C28-0959-3275-C798-0210738F674E}"/>
              </a:ext>
            </a:extLst>
          </p:cNvPr>
          <p:cNvSpPr/>
          <p:nvPr/>
        </p:nvSpPr>
        <p:spPr>
          <a:xfrm>
            <a:off x="9026833" y="5964267"/>
            <a:ext cx="3031810" cy="82137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CDBBC86-A5F8-F9FE-C543-2BE8C20DA669}"/>
              </a:ext>
            </a:extLst>
          </p:cNvPr>
          <p:cNvSpPr txBox="1"/>
          <p:nvPr/>
        </p:nvSpPr>
        <p:spPr>
          <a:xfrm>
            <a:off x="8920044" y="6050481"/>
            <a:ext cx="2315999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これまでの詳細資料はこちら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97A6B86D-EBAE-ECB0-0D9E-BD30C2FA7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296" y="6004315"/>
            <a:ext cx="738664" cy="738664"/>
          </a:xfrm>
          <a:prstGeom prst="roundRect">
            <a:avLst>
              <a:gd name="adj" fmla="val 10140"/>
            </a:avLst>
          </a:prstGeom>
        </p:spPr>
      </p:pic>
    </p:spTree>
    <p:extLst>
      <p:ext uri="{BB962C8B-B14F-4D97-AF65-F5344CB8AC3E}">
        <p14:creationId xmlns:p14="http://schemas.microsoft.com/office/powerpoint/2010/main" val="2502095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979</Words>
  <Application>Microsoft Office PowerPoint</Application>
  <PresentationFormat>ワイド画面</PresentationFormat>
  <Paragraphs>119</Paragraphs>
  <Slides>17</Slides>
  <Notes>3</Notes>
  <HiddenSlides>0</HiddenSlides>
  <MMClips>3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7" baseType="lpstr">
      <vt:lpstr>BIZ UDPゴシック</vt:lpstr>
      <vt:lpstr>Noto Sans JP Black</vt:lpstr>
      <vt:lpstr>PMingLiU-ExtB</vt:lpstr>
      <vt:lpstr>UD デジタル 教科書体 NK</vt:lpstr>
      <vt:lpstr>Zen Kaku Gothic New</vt:lpstr>
      <vt:lpstr>游ゴシック</vt:lpstr>
      <vt:lpstr>游ゴシック Light</vt:lpstr>
      <vt:lpstr>ADLaM Display</vt:lpstr>
      <vt:lpstr>Arial</vt:lpstr>
      <vt:lpstr>Office テーマ</vt:lpstr>
      <vt:lpstr>PowerPoint プレゼンテーション</vt:lpstr>
      <vt:lpstr>１．社会課題 ～物流業界が抱える問題～</vt:lpstr>
      <vt:lpstr>Q. 人手不足は深刻化しているのか</vt:lpstr>
      <vt:lpstr>既存ロボット「AMR」にも課題多し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Q. 現在地補正はどうやるの？</vt:lpstr>
      <vt:lpstr>A. SD画質カメラでも機械学習で精度向上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YUSEI IIDA</dc:creator>
  <cp:lastModifiedBy>YUSEI IIDA</cp:lastModifiedBy>
  <cp:revision>29</cp:revision>
  <dcterms:created xsi:type="dcterms:W3CDTF">2026-06-29T03:36:48Z</dcterms:created>
  <dcterms:modified xsi:type="dcterms:W3CDTF">2026-07-01T13:21:44Z</dcterms:modified>
</cp:coreProperties>
</file>