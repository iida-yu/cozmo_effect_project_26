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60" r:id="rId4"/>
    <p:sldId id="262" r:id="rId5"/>
    <p:sldId id="270" r:id="rId6"/>
    <p:sldId id="258" r:id="rId7"/>
    <p:sldId id="275" r:id="rId8"/>
    <p:sldId id="267" r:id="rId9"/>
    <p:sldId id="269" r:id="rId10"/>
    <p:sldId id="268" r:id="rId11"/>
    <p:sldId id="271" r:id="rId12"/>
    <p:sldId id="276" r:id="rId13"/>
    <p:sldId id="264" r:id="rId14"/>
    <p:sldId id="265" r:id="rId15"/>
    <p:sldId id="266" r:id="rId16"/>
    <p:sldId id="273" r:id="rId17"/>
    <p:sldId id="274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A01165CD-4CAF-4456-AD7B-7FB391C400D8}">
          <p14:sldIdLst>
            <p14:sldId id="256"/>
          </p14:sldIdLst>
        </p14:section>
        <p14:section name="社会課題" id="{AB5625E6-47C5-445C-9040-AA81890FFC9E}">
          <p14:sldIdLst>
            <p14:sldId id="261"/>
            <p14:sldId id="260"/>
            <p14:sldId id="262"/>
          </p14:sldIdLst>
        </p14:section>
        <p14:section name="研究内容" id="{03402073-6C4B-4A90-B1D0-2F8245DB2EBF}">
          <p14:sldIdLst>
            <p14:sldId id="270"/>
            <p14:sldId id="258"/>
            <p14:sldId id="275"/>
            <p14:sldId id="267"/>
            <p14:sldId id="269"/>
            <p14:sldId id="268"/>
          </p14:sldIdLst>
        </p14:section>
        <p14:section name="現在の課題と実演" id="{B7CD621F-7797-49E9-BE3E-FF61640A15CF}">
          <p14:sldIdLst>
            <p14:sldId id="271"/>
            <p14:sldId id="276"/>
            <p14:sldId id="264"/>
            <p14:sldId id="265"/>
            <p14:sldId id="266"/>
            <p14:sldId id="273"/>
          </p14:sldIdLst>
        </p14:section>
        <p14:section name="質疑応答" id="{FD5F4A6C-D950-4A03-A0D3-D8E3E20277E1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07" autoAdjust="0"/>
    <p:restoredTop sz="96554" autoAdjust="0"/>
  </p:normalViewPr>
  <p:slideViewPr>
    <p:cSldViewPr snapToGrid="0">
      <p:cViewPr>
        <p:scale>
          <a:sx n="101" d="100"/>
          <a:sy n="101" d="100"/>
        </p:scale>
        <p:origin x="-17" y="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altLang="ja-JP" dirty="0"/>
              <a:t>EC</a:t>
            </a:r>
            <a:r>
              <a:rPr lang="ja-JP" altLang="en-US" dirty="0"/>
              <a:t>サイト市場の拡大</a:t>
            </a:r>
            <a:endParaRPr lang="ja-JP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>
        <c:manualLayout>
          <c:layoutTarget val="inner"/>
          <c:xMode val="edge"/>
          <c:yMode val="edge"/>
          <c:x val="0.12109428198909605"/>
          <c:y val="0.12499570709474865"/>
          <c:w val="0.89208562992125984"/>
          <c:h val="0.731615358537441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物販系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2018年</c:v>
                </c:pt>
                <c:pt idx="1">
                  <c:v>2019年</c:v>
                </c:pt>
                <c:pt idx="2">
                  <c:v>2020年</c:v>
                </c:pt>
                <c:pt idx="3">
                  <c:v>2021年</c:v>
                </c:pt>
                <c:pt idx="4">
                  <c:v>2022年</c:v>
                </c:pt>
                <c:pt idx="5">
                  <c:v>2023年</c:v>
                </c:pt>
                <c:pt idx="6">
                  <c:v>2024年</c:v>
                </c:pt>
              </c:strCache>
            </c:strRef>
          </c:cat>
          <c:val>
            <c:numRef>
              <c:f>Sheet1!$B$2:$B$8</c:f>
              <c:numCache>
                <c:formatCode>#,##0_);[Red]\(#,##0\)</c:formatCode>
                <c:ptCount val="7"/>
                <c:pt idx="0">
                  <c:v>92992</c:v>
                </c:pt>
                <c:pt idx="1">
                  <c:v>100515</c:v>
                </c:pt>
                <c:pt idx="2">
                  <c:v>122333</c:v>
                </c:pt>
                <c:pt idx="3">
                  <c:v>132864</c:v>
                </c:pt>
                <c:pt idx="4">
                  <c:v>139997</c:v>
                </c:pt>
                <c:pt idx="5">
                  <c:v>146760</c:v>
                </c:pt>
                <c:pt idx="6">
                  <c:v>152194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CB-404D-8839-A95AA0019B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サービス系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2018年</c:v>
                </c:pt>
                <c:pt idx="1">
                  <c:v>2019年</c:v>
                </c:pt>
                <c:pt idx="2">
                  <c:v>2020年</c:v>
                </c:pt>
                <c:pt idx="3">
                  <c:v>2021年</c:v>
                </c:pt>
                <c:pt idx="4">
                  <c:v>2022年</c:v>
                </c:pt>
                <c:pt idx="5">
                  <c:v>2023年</c:v>
                </c:pt>
                <c:pt idx="6">
                  <c:v>2024年</c:v>
                </c:pt>
              </c:strCache>
            </c:strRef>
          </c:cat>
          <c:val>
            <c:numRef>
              <c:f>Sheet1!$C$2:$C$8</c:f>
              <c:numCache>
                <c:formatCode>#,##0_);[Red]\(#,##0\)</c:formatCode>
                <c:ptCount val="7"/>
                <c:pt idx="0">
                  <c:v>66471</c:v>
                </c:pt>
                <c:pt idx="1">
                  <c:v>71672</c:v>
                </c:pt>
                <c:pt idx="2">
                  <c:v>45832</c:v>
                </c:pt>
                <c:pt idx="3">
                  <c:v>46424</c:v>
                </c:pt>
                <c:pt idx="4">
                  <c:v>61477</c:v>
                </c:pt>
                <c:pt idx="5">
                  <c:v>75169</c:v>
                </c:pt>
                <c:pt idx="6">
                  <c:v>82256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CB-404D-8839-A95AA0019B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デジタル系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2018年</c:v>
                </c:pt>
                <c:pt idx="1">
                  <c:v>2019年</c:v>
                </c:pt>
                <c:pt idx="2">
                  <c:v>2020年</c:v>
                </c:pt>
                <c:pt idx="3">
                  <c:v>2021年</c:v>
                </c:pt>
                <c:pt idx="4">
                  <c:v>2022年</c:v>
                </c:pt>
                <c:pt idx="5">
                  <c:v>2023年</c:v>
                </c:pt>
                <c:pt idx="6">
                  <c:v>2024年</c:v>
                </c:pt>
              </c:strCache>
            </c:strRef>
          </c:cat>
          <c:val>
            <c:numRef>
              <c:f>Sheet1!$D$2:$D$8</c:f>
              <c:numCache>
                <c:formatCode>#,##0_);[Red]\(#,##0\)</c:formatCode>
                <c:ptCount val="7"/>
                <c:pt idx="0">
                  <c:v>20382</c:v>
                </c:pt>
                <c:pt idx="1">
                  <c:v>21422</c:v>
                </c:pt>
                <c:pt idx="2">
                  <c:v>24614</c:v>
                </c:pt>
                <c:pt idx="3">
                  <c:v>27661</c:v>
                </c:pt>
                <c:pt idx="4">
                  <c:v>25614</c:v>
                </c:pt>
                <c:pt idx="5">
                  <c:v>26506</c:v>
                </c:pt>
                <c:pt idx="6">
                  <c:v>26776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CB-404D-8839-A95AA0019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80726336"/>
        <c:axId val="680728256"/>
      </c:barChart>
      <c:catAx>
        <c:axId val="68072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80728256"/>
        <c:crosses val="autoZero"/>
        <c:auto val="1"/>
        <c:lblAlgn val="ctr"/>
        <c:lblOffset val="100"/>
        <c:noMultiLvlLbl val="0"/>
      </c:catAx>
      <c:valAx>
        <c:axId val="68072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/>
                  <a:t>億円</a:t>
                </a:r>
              </a:p>
            </c:rich>
          </c:tx>
          <c:layout>
            <c:manualLayout>
              <c:xMode val="edge"/>
              <c:yMode val="edge"/>
              <c:x val="1.9409509402998813E-2"/>
              <c:y val="2.7432028362776775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#,##0_);[Red]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80726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職務別 求人の割合の変化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9435541268242704"/>
          <c:y val="0.2447846889952153"/>
          <c:w val="0.67213747493536002"/>
          <c:h val="0.508369061522812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令和2〜3年頃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全職業平均</c:v>
                </c:pt>
                <c:pt idx="1">
                  <c:v>倉庫業全体</c:v>
                </c:pt>
                <c:pt idx="2">
                  <c:v>フォークリフト運転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1.1399999999999999</c:v>
                </c:pt>
                <c:pt idx="1">
                  <c:v>0.83</c:v>
                </c:pt>
                <c:pt idx="2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38-451E-A2CE-F55481AA1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令和7年～8年頃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全職業平均</c:v>
                </c:pt>
                <c:pt idx="1">
                  <c:v>倉庫業全体</c:v>
                </c:pt>
                <c:pt idx="2">
                  <c:v>フォークリフト運転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1.22</c:v>
                </c:pt>
                <c:pt idx="1">
                  <c:v>1.92</c:v>
                </c:pt>
                <c:pt idx="2">
                  <c:v>2.66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38-451E-A2CE-F55481AA195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95603999"/>
        <c:axId val="1195601119"/>
      </c:barChart>
      <c:catAx>
        <c:axId val="11956039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5601119"/>
        <c:crosses val="autoZero"/>
        <c:auto val="1"/>
        <c:lblAlgn val="ctr"/>
        <c:lblOffset val="100"/>
        <c:noMultiLvlLbl val="0"/>
      </c:catAx>
      <c:valAx>
        <c:axId val="11956011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50" dirty="0"/>
                  <a:t>倍率</a:t>
                </a:r>
              </a:p>
            </c:rich>
          </c:tx>
          <c:layout>
            <c:manualLayout>
              <c:xMode val="edge"/>
              <c:yMode val="edge"/>
              <c:x val="0.93374832587816237"/>
              <c:y val="0.871041705911163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560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896617210442064"/>
          <c:y val="0.85601665222469203"/>
          <c:w val="0.52206747164466205"/>
          <c:h val="0.10170252043853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ja-JP" sz="1400" b="1" i="0" u="none" strike="noStrike" baseline="0" dirty="0">
                <a:solidFill>
                  <a:schemeClr val="tx1"/>
                </a:solidFill>
              </a:rPr>
              <a:t>「運輸業，郵便業」就業者数の推移</a:t>
            </a:r>
            <a:endParaRPr lang="en-US" altLang="ja-JP" sz="1400" b="1" i="0" u="none" strike="noStrike" baseline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ja-JP" altLang="ja-JP" sz="1400" b="1" i="0" u="none" strike="noStrike" baseline="0" dirty="0">
                <a:solidFill>
                  <a:schemeClr val="tx1"/>
                </a:solidFill>
              </a:rPr>
              <a:t>（直近数年間）</a:t>
            </a:r>
            <a:endParaRPr lang="en-US" altLang="ja-JP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列3</c:v>
                </c:pt>
              </c:strCache>
            </c:strRef>
          </c:tx>
          <c:spPr>
            <a:solidFill>
              <a:schemeClr val="accent2"/>
            </a:solidFill>
            <a:ln w="2540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2023年</c:v>
                </c:pt>
                <c:pt idx="1">
                  <c:v>2024年</c:v>
                </c:pt>
                <c:pt idx="2">
                  <c:v>2025年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349</c:v>
                </c:pt>
                <c:pt idx="1">
                  <c:v>353</c:v>
                </c:pt>
                <c:pt idx="2">
                  <c:v>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E5-4156-9D1B-74DDAB8D0D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5619359"/>
        <c:axId val="1195618399"/>
      </c:barChart>
      <c:catAx>
        <c:axId val="1195619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5618399"/>
        <c:crosses val="autoZero"/>
        <c:auto val="1"/>
        <c:lblAlgn val="ctr"/>
        <c:lblOffset val="100"/>
        <c:noMultiLvlLbl val="0"/>
      </c:catAx>
      <c:valAx>
        <c:axId val="1195618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33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50" b="1" dirty="0">
                    <a:solidFill>
                      <a:schemeClr val="tx1"/>
                    </a:solidFill>
                  </a:rPr>
                  <a:t>万人</a:t>
                </a:r>
                <a:endParaRPr lang="ja-JP" altLang="en-US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9.657237293119085E-2"/>
              <c:y val="0.198631517666242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33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5619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B0BD3-665A-4CD5-BEF8-9DBF5A6379C5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0CE74-EB28-4BE4-AAC1-48E126B88F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56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917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637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032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340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同時再生は「連続２回エンターキー」を押してください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860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ここで実演！カメラを使用して、プロジェクターへの投影を！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0CE74-EB28-4BE4-AAC1-48E126B88FEE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165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D64E4-CC3F-6910-252B-9A8E6E698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FE5D05-DE2B-2118-6147-36BA77C58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D6E213-EBA2-0B68-CA9B-B4B9A0BD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5A9067-A66D-CC24-2E27-42CEF001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26F24E-2AF9-B0F4-EF27-07788DDB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49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CCD762-8E1D-1DC5-DE30-CB67BC45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2AD25B-CE41-5B04-AA70-5B859705F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B47CFC-4636-B9D6-0178-5A6C3D44F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8E1D1C-1660-8E30-C877-F677DE1D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07C084-70C2-5650-110A-AF82E24B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8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B8EF86-BCF7-A827-CD07-D7CC2265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7FEC90-B19B-C396-FAA7-EFF4E2F67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1E497F-6674-5F48-47B2-AAB3EEAB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305BD4-7FDC-970E-5C2B-43CD5EBB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D2B555-015D-4E07-DAB6-151D560A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69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B63EE9-7662-CDD0-A506-1C0A0C5C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B56C34-D34F-A6DA-3716-7D17B1E9D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1F7B18-AD0E-5868-6C40-37AFB29EB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141156-63C4-7150-5E2F-B3FF5E12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CE6D5A-529B-0594-7F0A-30A8D40C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76C21D-3E7B-6494-8227-DD7572FA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55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F0DFCF-B0E4-9032-61C6-569BDA0D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C2BB45-E57A-D6F5-D613-AC00AD92D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B61E6E-1AB3-2DBB-02D1-7F063D8F6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F4DED8-42D3-E2DB-6775-79E690780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426E5E-83F3-0CEB-2CEF-E57376169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9A8D9E-9D51-62FD-41A0-15CDB86D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A4C6DFB-F392-CBF4-4ECA-52F1749A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EE7ABFB-4836-37B5-79ED-AE2C2DA9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62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D8AE2-5DCA-7BC3-3FF1-B3C63D43C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D79036B-2EAD-510D-4E51-C95FDE8DC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8C7BF4-A7BC-1F80-D6B1-1B0D942A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D7A13C-8F44-A0E5-6B13-0CE89AD3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966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C0634B-A7CD-CAA5-6992-D237AD40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B2DBC48-E2D6-74D1-FE97-C99EEBA0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A0CD2A-5108-0244-3224-DECCE381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80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FF0FC-01C5-A5EC-9061-81F24B26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1A2C7E-277F-4FF3-A14B-6AF24DA5E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5EEF9B-E537-D7A8-29AC-088B72A48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9E13E1-9676-5CF1-D585-251AE4B2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18A6CD-27CF-8493-8421-8C3146A5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765563-E0A6-8AB7-9D05-2BBF3A3F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78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4E0720-621F-D702-D370-2436000E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737819-8551-C3A9-9C0E-CDC4108B3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731597-1E2D-76F8-2A10-9DBFEABA5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B9D76E-8485-1410-7D47-3A214B98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7307CE-4E49-A962-52F0-EB0051F3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D8FB23-E723-10E0-6B11-8B288B4D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67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EB557-C68F-A768-E6FA-AB43441A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AD9B03-A703-CC85-256D-3834BC3B0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E86702-EED8-7D2A-3421-3B099904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D06F12-6C2C-F877-C198-BAD8B8A9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795203-BED8-2F46-E6AF-A5660922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764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788610-F6D5-698F-F515-6459A303D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58C209-9CC8-13A5-433A-B22972511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A456FD-4E36-B18C-CC18-A0929EBC8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009B37-4C24-26C4-E1A9-7039E580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B76326-B01E-5C05-7A4E-A99C9F3C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46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DCF800-2A72-F187-BFD5-2D9924D5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5C080E-7169-3520-28C9-F9A80B452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455B21-8ECC-6D91-300F-532B47B74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4BEA-5139-4109-930D-9FFFDC328563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6A89BA-F913-B431-3CF9-F3363A0E0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EF4848-D574-A304-7EF8-E52DE4C91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FFEF4-73F3-44B9-86DE-269C75013A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359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11" Type="http://schemas.openxmlformats.org/officeDocument/2006/relationships/image" Target="../media/image9.png"/><Relationship Id="rId5" Type="http://schemas.openxmlformats.org/officeDocument/2006/relationships/image" Target="../media/image3.gif"/><Relationship Id="rId10" Type="http://schemas.openxmlformats.org/officeDocument/2006/relationships/image" Target="../media/image8.png"/><Relationship Id="rId4" Type="http://schemas.openxmlformats.org/officeDocument/2006/relationships/image" Target="../media/image2.gif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.png"/><Relationship Id="rId7" Type="http://schemas.openxmlformats.org/officeDocument/2006/relationships/hyperlink" Target="https://www.meti.go.jp/press/2025/08/20250826005/20250826005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image" Target="../media/image11.gif"/><Relationship Id="rId9" Type="http://schemas.openxmlformats.org/officeDocument/2006/relationships/hyperlink" Target="https://www.wataryu.co.jp/column/kadai2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gif"/><Relationship Id="rId7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hyperlink" Target="https://www.logi-today.com/876301" TargetMode="Externa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/><Relationship Id="rId3" Type="http://schemas.openxmlformats.org/officeDocument/2006/relationships/image" Target="../media/image11.gif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gif"/><Relationship Id="rId7" Type="http://schemas.openxmlformats.org/officeDocument/2006/relationships/image" Target="../media/image1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8.gif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gif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gif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gif"/><Relationship Id="rId7" Type="http://schemas.openxmlformats.org/officeDocument/2006/relationships/image" Target="../media/image34.png"/><Relationship Id="rId12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13.png"/><Relationship Id="rId4" Type="http://schemas.openxmlformats.org/officeDocument/2006/relationships/image" Target="../media/image31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13" Type="http://schemas.openxmlformats.org/officeDocument/2006/relationships/image" Target="../media/image13.png"/><Relationship Id="rId3" Type="http://schemas.microsoft.com/office/2007/relationships/media" Target="../media/media2.mp4"/><Relationship Id="rId7" Type="http://schemas.openxmlformats.org/officeDocument/2006/relationships/image" Target="../media/image1.png"/><Relationship Id="rId12" Type="http://schemas.openxmlformats.org/officeDocument/2006/relationships/image" Target="../media/image1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5.xml"/><Relationship Id="rId11" Type="http://schemas.openxmlformats.org/officeDocument/2006/relationships/image" Target="../media/image39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8.png"/><Relationship Id="rId4" Type="http://schemas.openxmlformats.org/officeDocument/2006/relationships/video" Target="../media/media2.mp4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0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11.gif"/><Relationship Id="rId5" Type="http://schemas.openxmlformats.org/officeDocument/2006/relationships/image" Target="../media/image1.png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85F15DC-1374-564D-4EFE-4C4222C41901}"/>
              </a:ext>
            </a:extLst>
          </p:cNvPr>
          <p:cNvSpPr/>
          <p:nvPr/>
        </p:nvSpPr>
        <p:spPr>
          <a:xfrm>
            <a:off x="2473400" y="2215374"/>
            <a:ext cx="9144000" cy="4185980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178C7268-9CF1-CF15-C6AC-FD5AC217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419A4284-F1BA-6BAC-8959-730AF3FED5F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7E337DD3-4508-5399-68FF-E9D9D9C9B09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BC44223B-6493-5FE3-333E-212E8845291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5000"/>
          </a:blip>
          <a:srcRect/>
          <a:stretch>
            <a:fillRect/>
          </a:stretch>
        </p:blipFill>
        <p:spPr>
          <a:xfrm rot="1440088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E4A6CE6D-CA36-6966-5BFC-9F3D4A7E0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0013" y="1547465"/>
            <a:ext cx="9144000" cy="422525"/>
          </a:xfrm>
        </p:spPr>
        <p:txBody>
          <a:bodyPr>
            <a:normAutofit/>
          </a:bodyPr>
          <a:lstStyle/>
          <a:p>
            <a:r>
              <a:rPr lang="ja-JP" altLang="ja-JP" b="1" i="0" dirty="0">
                <a:solidFill>
                  <a:srgbClr val="1A1A2E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蟻の群知能で実現する自律移動ロボットの物流最適化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424B3289-0648-D3A7-285C-92CE485C8F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971" t="39912" r="6029" b="37456"/>
          <a:stretch>
            <a:fillRect/>
          </a:stretch>
        </p:blipFill>
        <p:spPr>
          <a:xfrm>
            <a:off x="4095842" y="373290"/>
            <a:ext cx="8132838" cy="1263259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B51F639-40A2-95D3-0D3C-DB8BE8C7B574}"/>
              </a:ext>
            </a:extLst>
          </p:cNvPr>
          <p:cNvSpPr txBox="1"/>
          <p:nvPr/>
        </p:nvSpPr>
        <p:spPr>
          <a:xfrm>
            <a:off x="2766261" y="2615624"/>
            <a:ext cx="665947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研究を行う理由</a:t>
            </a:r>
            <a:endParaRPr kumimoji="1"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0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～物流業界が抱える社会問題～</a:t>
            </a:r>
            <a:endParaRPr lang="en-US" altLang="ja-JP" sz="20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endParaRPr kumimoji="1" lang="en-US" altLang="ja-JP" sz="24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どんな研究か</a:t>
            </a:r>
            <a:endParaRPr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0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～</a:t>
            </a:r>
            <a:r>
              <a:rPr lang="en-US" altLang="ja-JP" sz="20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COZMO</a:t>
            </a:r>
            <a:r>
              <a:rPr lang="ja-JP" altLang="en-US" sz="20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を使った分散型ロボット構築～</a:t>
            </a:r>
            <a:endParaRPr lang="en-US" altLang="ja-JP" sz="20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endParaRPr kumimoji="1"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　現在の技術的課題と今後の展望</a:t>
            </a:r>
            <a:endParaRPr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endParaRPr lang="en-US" altLang="ja-JP" sz="24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</a:t>
            </a:r>
            <a:r>
              <a:rPr kumimoji="1" lang="ja-JP" altLang="en-US" sz="28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質疑応答の時間</a:t>
            </a:r>
            <a:endParaRPr kumimoji="1" lang="en-US" altLang="ja-JP" sz="28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F5C0EA3-FDCA-54A7-C333-1DEF2B294A8E}"/>
              </a:ext>
            </a:extLst>
          </p:cNvPr>
          <p:cNvSpPr txBox="1"/>
          <p:nvPr/>
        </p:nvSpPr>
        <p:spPr>
          <a:xfrm>
            <a:off x="9165849" y="2346708"/>
            <a:ext cx="2417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目次</a:t>
            </a:r>
            <a:endParaRPr lang="en-US" altLang="ja-JP" sz="36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lang="en-US" altLang="ja-JP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-CONTENTS-</a:t>
            </a:r>
            <a:endParaRPr kumimoji="1" lang="en-US" altLang="ja-JP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pic>
        <p:nvPicPr>
          <p:cNvPr id="20" name="図 19" descr="754,800点を超える課題解決のイラスト素材、ロイヤリティフリーのベクター素材グラフィックスとクリップアート - iStock | 問題,  イノベーション, ソリューション">
            <a:extLst>
              <a:ext uri="{FF2B5EF4-FFF2-40B4-BE49-F238E27FC236}">
                <a16:creationId xmlns:a16="http://schemas.microsoft.com/office/drawing/2014/main" id="{E4446F5B-244E-24C4-7CC3-AFF2AB59F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 rot="20173660">
            <a:off x="4081397" y="3374536"/>
            <a:ext cx="964202" cy="964202"/>
          </a:xfrm>
          <a:prstGeom prst="rect">
            <a:avLst/>
          </a:prstGeom>
        </p:spPr>
      </p:pic>
      <p:pic>
        <p:nvPicPr>
          <p:cNvPr id="21" name="図 20" descr="754,800点を超える課題解決のイラスト素材、ロイヤリティフリーのベクター素材グラフィックスとクリップアート - iStock | 問題,  イノベーション, ソリューション">
            <a:extLst>
              <a:ext uri="{FF2B5EF4-FFF2-40B4-BE49-F238E27FC236}">
                <a16:creationId xmlns:a16="http://schemas.microsoft.com/office/drawing/2014/main" id="{03E7E21B-A9BD-F701-1721-CE1644C703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095842" y="5472961"/>
            <a:ext cx="932688" cy="771144"/>
          </a:xfrm>
          <a:prstGeom prst="rect">
            <a:avLst/>
          </a:prstGeom>
        </p:spPr>
      </p:pic>
      <p:pic>
        <p:nvPicPr>
          <p:cNvPr id="22" name="図 21" descr="課題」の写真素材 | 11,386,407件の無料イラスト画像 | Adobe Stock">
            <a:extLst>
              <a:ext uri="{FF2B5EF4-FFF2-40B4-BE49-F238E27FC236}">
                <a16:creationId xmlns:a16="http://schemas.microsoft.com/office/drawing/2014/main" id="{EDB9CF9D-4D9C-FAF8-D451-D21141FBA3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891286" y="2346708"/>
            <a:ext cx="1344424" cy="732213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42032A5-872C-D043-8906-AD1216AEEB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6261" y="4751376"/>
            <a:ext cx="1338019" cy="706286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AD17207B-90EC-5028-766E-6475928542F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2859" y="4960884"/>
            <a:ext cx="1795298" cy="1795298"/>
          </a:xfrm>
          <a:prstGeom prst="roundRect">
            <a:avLst>
              <a:gd name="adj" fmla="val 10140"/>
            </a:avLst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E030146-CDFA-51B9-453A-EC4774EDF799}"/>
              </a:ext>
            </a:extLst>
          </p:cNvPr>
          <p:cNvSpPr txBox="1"/>
          <p:nvPr/>
        </p:nvSpPr>
        <p:spPr>
          <a:xfrm>
            <a:off x="9607732" y="4517631"/>
            <a:ext cx="2598122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詳しく確認したい人へ！</a:t>
            </a:r>
          </a:p>
        </p:txBody>
      </p:sp>
    </p:spTree>
    <p:extLst>
      <p:ext uri="{BB962C8B-B14F-4D97-AF65-F5344CB8AC3E}">
        <p14:creationId xmlns:p14="http://schemas.microsoft.com/office/powerpoint/2010/main" val="102177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図 28">
            <a:extLst>
              <a:ext uri="{FF2B5EF4-FFF2-40B4-BE49-F238E27FC236}">
                <a16:creationId xmlns:a16="http://schemas.microsoft.com/office/drawing/2014/main" id="{F99C4567-A6F0-8999-FB9B-1D6C59D99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4637F279-7942-3D80-6ED7-C3FFD03D84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20174204">
            <a:off x="-5846758" y="-4055017"/>
            <a:ext cx="17005599" cy="18983681"/>
          </a:xfrm>
          <a:prstGeom prst="rect">
            <a:avLst/>
          </a:prstGeom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D01BDD2-D4C1-B237-CFF3-0A84E7C39A58}"/>
              </a:ext>
            </a:extLst>
          </p:cNvPr>
          <p:cNvSpPr/>
          <p:nvPr/>
        </p:nvSpPr>
        <p:spPr>
          <a:xfrm>
            <a:off x="170654" y="1421176"/>
            <a:ext cx="6306346" cy="4841913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72A41EB-30ED-E203-9B29-80997C99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7203" y="119277"/>
            <a:ext cx="4522574" cy="560426"/>
          </a:xfrm>
        </p:spPr>
        <p:txBody>
          <a:bodyPr>
            <a:noAutofit/>
          </a:bodyPr>
          <a:lstStyle/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１．なぜこの研究を行うのか？</a:t>
            </a:r>
            <a:endParaRPr kumimoji="1" lang="ja-JP" altLang="en-US" sz="2400" dirty="0">
              <a:latin typeface="PMingLiU-ExtB" panose="02020500000000000000" pitchFamily="18" charset="-120"/>
              <a:ea typeface="UD デジタル 教科書体 NP" panose="020204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E95D40-143E-7FD6-D908-3F8661413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09" y="472922"/>
            <a:ext cx="4796928" cy="799526"/>
          </a:xfrm>
        </p:spPr>
        <p:txBody>
          <a:bodyPr>
            <a:normAutofit lnSpcReduction="10000"/>
          </a:bodyPr>
          <a:lstStyle/>
          <a:p>
            <a:pPr>
              <a:buSzPct val="150000"/>
              <a:buBlip>
                <a:blip r:embed="rId5"/>
              </a:buBlip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サイト市場の拡大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1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荷物量の増加と労働者にかかる作業量の増加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361F83A-38E3-6A5C-1F3F-94E3B2F91D98}"/>
              </a:ext>
            </a:extLst>
          </p:cNvPr>
          <p:cNvGrpSpPr/>
          <p:nvPr/>
        </p:nvGrpSpPr>
        <p:grpSpPr>
          <a:xfrm>
            <a:off x="170654" y="1593660"/>
            <a:ext cx="6104556" cy="4499575"/>
            <a:chOff x="5111393" y="1683850"/>
            <a:chExt cx="6104556" cy="4499575"/>
          </a:xfrm>
        </p:grpSpPr>
        <p:graphicFrame>
          <p:nvGraphicFramePr>
            <p:cNvPr id="12" name="グラフ 11">
              <a:extLst>
                <a:ext uri="{FF2B5EF4-FFF2-40B4-BE49-F238E27FC236}">
                  <a16:creationId xmlns:a16="http://schemas.microsoft.com/office/drawing/2014/main" id="{33678E59-078F-EB48-24EC-D57471041FB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50827885"/>
                </p:ext>
              </p:extLst>
            </p:nvPr>
          </p:nvGraphicFramePr>
          <p:xfrm>
            <a:off x="5232607" y="1683850"/>
            <a:ext cx="5862128" cy="42196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B8FAA360-1E32-51E6-6748-984B6E360BA4}"/>
                </a:ext>
              </a:extLst>
            </p:cNvPr>
            <p:cNvSpPr txBox="1"/>
            <p:nvPr/>
          </p:nvSpPr>
          <p:spPr>
            <a:xfrm>
              <a:off x="5111393" y="5752538"/>
              <a:ext cx="610455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100" dirty="0"/>
                <a:t>〖</a:t>
              </a:r>
              <a:r>
                <a:rPr lang="ja-JP" altLang="en-US" sz="1100" dirty="0"/>
                <a:t>タイトル</a:t>
              </a:r>
              <a:r>
                <a:rPr lang="en-US" altLang="ja-JP" sz="1100" dirty="0"/>
                <a:t>〗</a:t>
              </a:r>
              <a:r>
                <a:rPr lang="ja-JP" altLang="ja-JP" sz="1100" dirty="0"/>
                <a:t>国内電子商取引市場規模（</a:t>
              </a:r>
              <a:r>
                <a:rPr lang="en-US" altLang="ja-JP" sz="1100" dirty="0" err="1"/>
                <a:t>BtoC</a:t>
              </a:r>
              <a:r>
                <a:rPr lang="ja-JP" altLang="ja-JP" sz="1100" dirty="0"/>
                <a:t>）</a:t>
              </a:r>
              <a:br>
                <a:rPr lang="en-US" altLang="ja-JP" sz="1100" dirty="0">
                  <a:hlinkClick r:id="rId7" tooltip="ソースページへジャンプ"/>
                </a:rPr>
              </a:br>
              <a:r>
                <a:rPr lang="ja-JP" altLang="en-US" sz="1100" dirty="0">
                  <a:hlinkClick r:id="rId7" tooltip="ソースページへジャンプ"/>
                </a:rPr>
                <a:t>経済産業省</a:t>
              </a:r>
              <a:r>
                <a:rPr lang="en-US" altLang="ja-JP" sz="1100" dirty="0">
                  <a:hlinkClick r:id="rId7" tooltip="ソースページへジャンプ"/>
                </a:rPr>
                <a:t>HP</a:t>
              </a:r>
              <a:r>
                <a:rPr lang="ja-JP" altLang="en-US" sz="1100" dirty="0">
                  <a:hlinkClick r:id="rId7" tooltip="ソースページへジャンプ"/>
                </a:rPr>
                <a:t>より「</a:t>
              </a:r>
              <a:r>
                <a:rPr lang="ja-JP" altLang="ja-JP" sz="1100" dirty="0">
                  <a:hlinkClick r:id="rId7" tooltip="ソースページへジャンプ"/>
                </a:rPr>
                <a:t>令和6年度デジタル取引環境整備事業（電子商取引に関する市場調査）</a:t>
              </a:r>
              <a:r>
                <a:rPr lang="ja-JP" altLang="en-US" sz="1100" dirty="0">
                  <a:hlinkClick r:id="rId7" tooltip="ソースページへジャンプ"/>
                </a:rPr>
                <a:t>」</a:t>
              </a:r>
              <a:endParaRPr kumimoji="1" lang="ja-JP" altLang="en-US" sz="1100" dirty="0"/>
            </a:p>
          </p:txBody>
        </p:sp>
      </p:grpSp>
      <p:sp>
        <p:nvSpPr>
          <p:cNvPr id="15" name="矢印: 右 14">
            <a:extLst>
              <a:ext uri="{FF2B5EF4-FFF2-40B4-BE49-F238E27FC236}">
                <a16:creationId xmlns:a16="http://schemas.microsoft.com/office/drawing/2014/main" id="{D6AF8D89-3239-003A-F5AD-022593413A4C}"/>
              </a:ext>
            </a:extLst>
          </p:cNvPr>
          <p:cNvSpPr/>
          <p:nvPr/>
        </p:nvSpPr>
        <p:spPr>
          <a:xfrm rot="20978785">
            <a:off x="1403956" y="2597423"/>
            <a:ext cx="4378028" cy="13381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EA82CC9-1B16-CF27-4E9A-757F01D93797}"/>
              </a:ext>
            </a:extLst>
          </p:cNvPr>
          <p:cNvSpPr/>
          <p:nvPr/>
        </p:nvSpPr>
        <p:spPr>
          <a:xfrm>
            <a:off x="6636498" y="1653708"/>
            <a:ext cx="5396003" cy="3168463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45C227F0-D2F0-53A4-BFD5-14962AC034C9}"/>
              </a:ext>
            </a:extLst>
          </p:cNvPr>
          <p:cNvGrpSpPr/>
          <p:nvPr/>
        </p:nvGrpSpPr>
        <p:grpSpPr>
          <a:xfrm>
            <a:off x="6569385" y="1593660"/>
            <a:ext cx="5430459" cy="3158570"/>
            <a:chOff x="164632" y="3657600"/>
            <a:chExt cx="5430459" cy="3158570"/>
          </a:xfrm>
        </p:grpSpPr>
        <p:graphicFrame>
          <p:nvGraphicFramePr>
            <p:cNvPr id="42" name="グラフ 41">
              <a:extLst>
                <a:ext uri="{FF2B5EF4-FFF2-40B4-BE49-F238E27FC236}">
                  <a16:creationId xmlns:a16="http://schemas.microsoft.com/office/drawing/2014/main" id="{65E22F73-A024-D83F-FD0C-B4E8698EC3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72637044"/>
                </p:ext>
              </p:extLst>
            </p:nvPr>
          </p:nvGraphicFramePr>
          <p:xfrm>
            <a:off x="164632" y="3657600"/>
            <a:ext cx="5430459" cy="26543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1699218-096C-EDE9-30D7-B765AEA260C5}"/>
                </a:ext>
              </a:extLst>
            </p:cNvPr>
            <p:cNvSpPr txBox="1"/>
            <p:nvPr/>
          </p:nvSpPr>
          <p:spPr>
            <a:xfrm>
              <a:off x="514279" y="6216006"/>
              <a:ext cx="5064207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100" dirty="0">
                  <a:hlinkClick r:id="rId9" tooltip="データのソース元へジャンプ"/>
                </a:rPr>
                <a:t>〖</a:t>
              </a:r>
              <a:r>
                <a:rPr lang="ja-JP" altLang="en-US" sz="1100" dirty="0">
                  <a:hlinkClick r:id="rId9" tooltip="データのソース元へジャンプ"/>
                </a:rPr>
                <a:t>タイトル</a:t>
              </a:r>
              <a:r>
                <a:rPr lang="en-US" altLang="ja-JP" sz="1100" dirty="0">
                  <a:hlinkClick r:id="rId9" tooltip="データのソース元へジャンプ"/>
                </a:rPr>
                <a:t>〗</a:t>
              </a:r>
              <a:r>
                <a:rPr lang="ja-JP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倉庫関連職種の有効求人倍率の比較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ja-JP" altLang="en-US" sz="1100" dirty="0">
                  <a:hlinkClick r:id="rId9" tooltip="データのソース元へジャンプ"/>
                </a:rPr>
                <a:t>民間企業コラムより</a:t>
              </a:r>
              <a:endParaRPr lang="en-US" altLang="ja-JP" sz="1100" dirty="0">
                <a:hlinkClick r:id="rId9" tooltip="データのソース元へジャンプ"/>
              </a:endParaRPr>
            </a:p>
            <a:p>
              <a:r>
                <a:rPr lang="ja-JP" altLang="en-US" sz="1100" dirty="0">
                  <a:hlinkClick r:id="rId9" tooltip="データのソース元へジャンプ"/>
                </a:rPr>
                <a:t>「</a:t>
              </a:r>
              <a:r>
                <a:rPr lang="ja-JP" altLang="ja-JP" sz="1100" b="0" i="0" dirty="0">
                  <a:solidFill>
                    <a:srgbClr val="000000"/>
                  </a:solidFill>
                  <a:effectLst/>
                  <a:latin typeface="Zen Kaku Gothic New"/>
                  <a:hlinkClick r:id="rId9" tooltip="データのソース元へジャンプ"/>
                </a:rPr>
                <a:t>厚生労働省　職業安定業務統計</a:t>
              </a:r>
              <a:r>
                <a:rPr lang="ja-JP" altLang="en-US" sz="1100" dirty="0">
                  <a:hlinkClick r:id="rId9" tooltip="データのソース元へジャンプ"/>
                </a:rPr>
                <a:t>」「</a:t>
              </a:r>
              <a:r>
                <a:rPr lang="ja-JP" altLang="ja-JP" sz="1100" b="0" i="0" dirty="0">
                  <a:solidFill>
                    <a:srgbClr val="000000"/>
                  </a:solidFill>
                  <a:effectLst/>
                  <a:latin typeface="Zen Kaku Gothic New"/>
                  <a:hlinkClick r:id="rId9" tooltip="データのソース元へジャンプ"/>
                </a:rPr>
                <a:t>職業情報提供サイト（日本版O-NET）</a:t>
              </a:r>
              <a:r>
                <a:rPr lang="ja-JP" altLang="en-US" sz="1100" dirty="0">
                  <a:hlinkClick r:id="rId9" tooltip="データのソース元へジャンプ"/>
                </a:rPr>
                <a:t>」</a:t>
              </a:r>
              <a:endParaRPr kumimoji="1" lang="ja-JP" altLang="en-US" sz="1100" dirty="0"/>
            </a:p>
          </p:txBody>
        </p:sp>
      </p:grp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F2FF0D2-359C-F91B-7E51-76E2B6061B54}"/>
              </a:ext>
            </a:extLst>
          </p:cNvPr>
          <p:cNvSpPr txBox="1"/>
          <p:nvPr/>
        </p:nvSpPr>
        <p:spPr>
          <a:xfrm>
            <a:off x="6935637" y="5215509"/>
            <a:ext cx="7585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50000"/>
              <a:buBlip>
                <a:blip r:embed="rId5"/>
              </a:buBlip>
            </a:pPr>
            <a:r>
              <a:rPr kumimoji="1"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物流業界内の労働人口減少</a:t>
            </a:r>
            <a:endParaRPr kumimoji="1"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endParaRPr lang="en-US" altLang="ja-JP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サイト内の作業量増加と人手不足の深刻化</a:t>
            </a: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A7195AAE-2B3C-8A94-39D9-0A91E8424B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222131" y="350423"/>
            <a:ext cx="5277349" cy="560426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C8D8D4FB-8576-208F-C86D-17D8D94A38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27" name="星: 7 pt 26">
            <a:extLst>
              <a:ext uri="{FF2B5EF4-FFF2-40B4-BE49-F238E27FC236}">
                <a16:creationId xmlns:a16="http://schemas.microsoft.com/office/drawing/2014/main" id="{E745D8CB-C20B-5D75-6253-59CBD951DA84}"/>
              </a:ext>
            </a:extLst>
          </p:cNvPr>
          <p:cNvSpPr/>
          <p:nvPr/>
        </p:nvSpPr>
        <p:spPr>
          <a:xfrm rot="20981219">
            <a:off x="1579128" y="2458604"/>
            <a:ext cx="1052201" cy="371017"/>
          </a:xfrm>
          <a:prstGeom prst="star7">
            <a:avLst>
              <a:gd name="adj" fmla="val 34601"/>
              <a:gd name="hf" fmla="val 102572"/>
              <a:gd name="vf" fmla="val 10521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増加</a:t>
            </a:r>
          </a:p>
        </p:txBody>
      </p:sp>
    </p:spTree>
    <p:extLst>
      <p:ext uri="{BB962C8B-B14F-4D97-AF65-F5344CB8AC3E}">
        <p14:creationId xmlns:p14="http://schemas.microsoft.com/office/powerpoint/2010/main" val="423061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>
            <a:extLst>
              <a:ext uri="{FF2B5EF4-FFF2-40B4-BE49-F238E27FC236}">
                <a16:creationId xmlns:a16="http://schemas.microsoft.com/office/drawing/2014/main" id="{4D4F1814-C2AE-05A3-9D4E-E562D0B7F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5558B88-F80B-0DE1-240B-2D4E0A5678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5846758" y="-4055017"/>
            <a:ext cx="17005599" cy="18983681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D17F43B-2968-76FB-154F-738C5DF67BA2}"/>
              </a:ext>
            </a:extLst>
          </p:cNvPr>
          <p:cNvSpPr/>
          <p:nvPr/>
        </p:nvSpPr>
        <p:spPr>
          <a:xfrm>
            <a:off x="8034055" y="4278297"/>
            <a:ext cx="3810000" cy="2429778"/>
          </a:xfrm>
          <a:prstGeom prst="roundRect">
            <a:avLst>
              <a:gd name="adj" fmla="val 4835"/>
            </a:avLst>
          </a:prstGeom>
          <a:solidFill>
            <a:schemeClr val="tx2">
              <a:lumMod val="10000"/>
              <a:lumOff val="9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1839EE9-E6FF-90CA-4EA6-7F1744BD3F72}"/>
              </a:ext>
            </a:extLst>
          </p:cNvPr>
          <p:cNvSpPr/>
          <p:nvPr/>
        </p:nvSpPr>
        <p:spPr>
          <a:xfrm>
            <a:off x="3792804" y="5529075"/>
            <a:ext cx="2580481" cy="18181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25EF8B26-C985-4151-8D78-E7DDB5822491}"/>
              </a:ext>
            </a:extLst>
          </p:cNvPr>
          <p:cNvSpPr/>
          <p:nvPr/>
        </p:nvSpPr>
        <p:spPr>
          <a:xfrm>
            <a:off x="1449137" y="3785937"/>
            <a:ext cx="6197600" cy="18181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3BA01FF-1A31-021C-5840-A29F41D4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Q.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人手不足は深刻化しているのか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468B09-0F2B-BC05-BB06-0E852326D58C}"/>
              </a:ext>
            </a:extLst>
          </p:cNvPr>
          <p:cNvSpPr txBox="1"/>
          <p:nvPr/>
        </p:nvSpPr>
        <p:spPr>
          <a:xfrm>
            <a:off x="8680190" y="6390268"/>
            <a:ext cx="2470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hlinkClick r:id="rId4"/>
              </a:rPr>
              <a:t>〖</a:t>
            </a:r>
            <a:r>
              <a:rPr lang="ja-JP" altLang="en-US" sz="1100" dirty="0">
                <a:hlinkClick r:id="rId4"/>
              </a:rPr>
              <a:t>グラフ</a:t>
            </a:r>
            <a:r>
              <a:rPr lang="en-US" altLang="ja-JP" sz="1100" dirty="0">
                <a:hlinkClick r:id="rId4"/>
              </a:rPr>
              <a:t>〗</a:t>
            </a:r>
            <a:r>
              <a:rPr lang="ja-JP" altLang="en-US" sz="1100" dirty="0">
                <a:hlinkClick r:id="rId4"/>
              </a:rPr>
              <a:t>民間メディアの記事より</a:t>
            </a:r>
            <a:endParaRPr kumimoji="1" lang="ja-JP" altLang="en-US" sz="11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A0B2F5A-C80E-E3A7-AF91-6AD9209BA0AB}"/>
              </a:ext>
            </a:extLst>
          </p:cNvPr>
          <p:cNvSpPr txBox="1"/>
          <p:nvPr/>
        </p:nvSpPr>
        <p:spPr>
          <a:xfrm>
            <a:off x="895537" y="1719263"/>
            <a:ext cx="978327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50000"/>
              <a:buBlip>
                <a:blip r:embed="rId5"/>
              </a:buBlip>
            </a:pP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「1人あたりの労働時間」が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法改正で</a:t>
            </a: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削減された</a:t>
            </a:r>
            <a:r>
              <a:rPr lang="ja-JP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2024年4月から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時間外労働の上限規制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、トラックドライバーや現場作業員が「残業できる時間」が厳格に制限。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頭数が同じでも、1人が働ける時間が減ったため、これまでと同じ作業量をこなすためには「より多くの人数」を新たに雇わなければならなくなったのが最大の要因。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buSzPct val="150000"/>
              <a:buBlip>
                <a:blip r:embed="rId5"/>
              </a:buBlip>
            </a:pPr>
            <a:endParaRPr lang="ja-JP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buSzPct val="150000"/>
              <a:buBlip>
                <a:blip r:embed="rId5"/>
              </a:buBlip>
            </a:pP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EC市場拡大による「必要な作業量」の爆発的増加</a:t>
            </a:r>
            <a:r>
              <a:rPr lang="ja-JP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buSzPct val="150000"/>
              <a:buBlip>
                <a:blip r:embed="rId5"/>
              </a:buBlip>
            </a:pP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インターネット通販の普及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で、</a:t>
            </a: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扱う荷物の量や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endParaRPr lang="en-US" altLang="ja-JP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50000"/>
            </a:pPr>
            <a:r>
              <a:rPr lang="ja-JP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多品種・小ロットの複雑な仕分け作業は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年々増加</a:t>
            </a:r>
            <a:endParaRPr lang="ja-JP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88B557A-1E75-D5C7-2734-49D4B791F5E2}"/>
              </a:ext>
            </a:extLst>
          </p:cNvPr>
          <p:cNvGrpSpPr/>
          <p:nvPr/>
        </p:nvGrpSpPr>
        <p:grpSpPr>
          <a:xfrm>
            <a:off x="11296463" y="882643"/>
            <a:ext cx="773286" cy="2974741"/>
            <a:chOff x="10111872" y="1484964"/>
            <a:chExt cx="773286" cy="2974741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F0091FFD-58D7-109B-AFA2-DB69027D42EB}"/>
                </a:ext>
              </a:extLst>
            </p:cNvPr>
            <p:cNvSpPr/>
            <p:nvPr/>
          </p:nvSpPr>
          <p:spPr>
            <a:xfrm>
              <a:off x="10111872" y="1484964"/>
              <a:ext cx="773286" cy="29747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FF8F1FE7-159B-865F-AADA-BA3B8FD2B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50339" y="1554754"/>
              <a:ext cx="696351" cy="696351"/>
            </a:xfrm>
            <a:prstGeom prst="roundRect">
              <a:avLst>
                <a:gd name="adj" fmla="val 14363"/>
              </a:avLst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C86F7241-14C9-BE57-C21F-A586D6726002}"/>
                </a:ext>
              </a:extLst>
            </p:cNvPr>
            <p:cNvSpPr txBox="1"/>
            <p:nvPr/>
          </p:nvSpPr>
          <p:spPr>
            <a:xfrm>
              <a:off x="10150339" y="2279982"/>
              <a:ext cx="692497" cy="21015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倉庫業における人手不足についての総合調査結果（ソース）が気になる方はこちら</a:t>
              </a:r>
              <a:endPara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81E0CCB7-4F60-3124-59F7-329489E97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980587"/>
              </p:ext>
            </p:extLst>
          </p:nvPr>
        </p:nvGraphicFramePr>
        <p:xfrm>
          <a:off x="7886471" y="4320828"/>
          <a:ext cx="4057925" cy="2007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5" name="図 24">
            <a:extLst>
              <a:ext uri="{FF2B5EF4-FFF2-40B4-BE49-F238E27FC236}">
                <a16:creationId xmlns:a16="http://schemas.microsoft.com/office/drawing/2014/main" id="{19647CAB-1017-016A-7233-C8A6823763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89719825-937A-5392-AC2A-1B22D7757C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4" name="タイトル 1">
            <a:extLst>
              <a:ext uri="{FF2B5EF4-FFF2-40B4-BE49-F238E27FC236}">
                <a16:creationId xmlns:a16="http://schemas.microsoft.com/office/drawing/2014/main" id="{C66B8202-9B86-3B5B-96DA-BFC989FF59DA}"/>
              </a:ext>
            </a:extLst>
          </p:cNvPr>
          <p:cNvSpPr txBox="1">
            <a:spLocks/>
          </p:cNvSpPr>
          <p:nvPr/>
        </p:nvSpPr>
        <p:spPr>
          <a:xfrm>
            <a:off x="7157203" y="119277"/>
            <a:ext cx="4522574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１．なぜこの研究を行うのか？</a:t>
            </a:r>
            <a:endParaRPr lang="ja-JP" altLang="en-US" sz="2400" dirty="0">
              <a:latin typeface="PMingLiU-ExtB" panose="02020500000000000000" pitchFamily="18" charset="-120"/>
              <a:ea typeface="UD デジタル 教科書体 NP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959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43B7D76A-BE90-71B8-5D43-4E976B98E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63B0DC45-DB41-60C9-FD4F-366B8A2B34A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20174204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000B9A2-8E8A-8E42-FCBD-42858C816A87}"/>
              </a:ext>
            </a:extLst>
          </p:cNvPr>
          <p:cNvSpPr/>
          <p:nvPr/>
        </p:nvSpPr>
        <p:spPr>
          <a:xfrm>
            <a:off x="722562" y="5167264"/>
            <a:ext cx="9101376" cy="4670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14631C2-0A84-8292-A01E-8C8886B98369}"/>
              </a:ext>
            </a:extLst>
          </p:cNvPr>
          <p:cNvSpPr/>
          <p:nvPr/>
        </p:nvSpPr>
        <p:spPr>
          <a:xfrm>
            <a:off x="722562" y="3327644"/>
            <a:ext cx="8712108" cy="5023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535F25F-D4F4-A0D8-7CAF-491621D30B34}"/>
              </a:ext>
            </a:extLst>
          </p:cNvPr>
          <p:cNvSpPr/>
          <p:nvPr/>
        </p:nvSpPr>
        <p:spPr>
          <a:xfrm>
            <a:off x="722562" y="4252727"/>
            <a:ext cx="4697225" cy="4670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58B150-5129-4AA5-4F81-AE0C26B0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既存ロボット「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AMR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」にも課題多し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DDED7E-11F6-D897-52E8-AD70A5971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4834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ロボットがすれ違いできる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スペースの確保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が必要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ロボット同士が進路を譲り合う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デットロック発生 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のリスク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屋外や悪環境での利用は困難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長い廊下といった「特徴のない空間」 での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自己位置見失い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通信環境への依存リスク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初期費用（導入コスト）の高さ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セキュリティ面の課題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サーバで運搬ロボットを統括管理していたときの冗長化の必要性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C1342AF-255F-FF61-130E-9789CE880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E7F0FB13-8B0A-6A4F-42F2-10F28B4C7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7FA3816-3213-8393-AF33-D104C2B498C0}"/>
              </a:ext>
            </a:extLst>
          </p:cNvPr>
          <p:cNvSpPr txBox="1"/>
          <p:nvPr/>
        </p:nvSpPr>
        <p:spPr>
          <a:xfrm rot="964966">
            <a:off x="9887032" y="5632345"/>
            <a:ext cx="20952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解決できるかも</a:t>
            </a:r>
            <a:r>
              <a:rPr kumimoji="1"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…</a:t>
            </a:r>
            <a:r>
              <a:rPr kumimoji="1" lang="ja-JP" alt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？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48ED4F01-D916-BFC9-ACB4-09903343B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2636" y="1380070"/>
            <a:ext cx="2477636" cy="2523097"/>
          </a:xfrm>
          <a:prstGeom prst="roundRect">
            <a:avLst>
              <a:gd name="adj" fmla="val 8404"/>
            </a:avLst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CDB5D9BA-4139-0881-9B1A-D5A44C33F2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9871" y="4023219"/>
            <a:ext cx="1047991" cy="928707"/>
          </a:xfrm>
          <a:prstGeom prst="roundRect">
            <a:avLst>
              <a:gd name="adj" fmla="val 6890"/>
            </a:avLst>
          </a:prstGeom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2ABB7788-6AB9-2B53-0604-8CB1999B5A4A}"/>
              </a:ext>
            </a:extLst>
          </p:cNvPr>
          <p:cNvSpPr txBox="1">
            <a:spLocks/>
          </p:cNvSpPr>
          <p:nvPr/>
        </p:nvSpPr>
        <p:spPr>
          <a:xfrm>
            <a:off x="7157203" y="119277"/>
            <a:ext cx="4522574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１．なぜこの研究を行うのか？</a:t>
            </a:r>
            <a:endParaRPr lang="ja-JP" altLang="en-US" sz="2400" dirty="0">
              <a:latin typeface="PMingLiU-ExtB" panose="02020500000000000000" pitchFamily="18" charset="-120"/>
              <a:ea typeface="UD デジタル 教科書体 NP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189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18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EACAEACD-5C1B-1E1A-BA9E-7106DB0F4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D23806-C13E-83DA-D41A-E74D694546C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77338E86-F2F7-2BCB-CC72-D34713C37A3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DED3A04C-7B27-E143-EE58-4DFA119BBB6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5000"/>
          </a:blip>
          <a:srcRect/>
          <a:stretch>
            <a:fillRect/>
          </a:stretch>
        </p:blipFill>
        <p:spPr>
          <a:xfrm rot="1440088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E2CCDE-B86C-D01F-62B6-78F437B78743}"/>
              </a:ext>
            </a:extLst>
          </p:cNvPr>
          <p:cNvSpPr txBox="1"/>
          <p:nvPr/>
        </p:nvSpPr>
        <p:spPr>
          <a:xfrm>
            <a:off x="508672" y="2615624"/>
            <a:ext cx="1128163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２</a:t>
            </a:r>
            <a:r>
              <a:rPr kumimoji="1"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．研究内容</a:t>
            </a:r>
            <a:endParaRPr kumimoji="1" lang="en-US" altLang="ja-JP" sz="6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endParaRPr kumimoji="1" lang="en-US" altLang="ja-JP" sz="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endParaRPr kumimoji="1" lang="en-US" altLang="ja-JP" sz="1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～ </a:t>
            </a:r>
            <a:r>
              <a:rPr lang="ja-JP" alt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単純ロジックで構築</a:t>
            </a:r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する</a:t>
            </a:r>
            <a:r>
              <a:rPr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（</a:t>
            </a:r>
            <a:r>
              <a:rPr kumimoji="1" lang="ja-JP" altLang="en-US" sz="28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低コスト）</a:t>
            </a:r>
            <a:endParaRPr lang="en-US" altLang="ja-JP" sz="28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r>
              <a:rPr kumimoji="1" lang="en-US" altLang="ja-JP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		</a:t>
            </a:r>
            <a:r>
              <a:rPr kumimoji="1" lang="ja-JP" altLang="en-US" sz="4000" dirty="0">
                <a:solidFill>
                  <a:schemeClr val="tx2">
                    <a:lumMod val="50000"/>
                    <a:lumOff val="50000"/>
                  </a:schemeClr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アプローチのしかた</a:t>
            </a:r>
            <a:r>
              <a:rPr kumimoji="1"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 </a:t>
            </a:r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～</a:t>
            </a:r>
            <a:endParaRPr kumimoji="1" lang="en-US" altLang="ja-JP" sz="4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048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図 27">
            <a:extLst>
              <a:ext uri="{FF2B5EF4-FFF2-40B4-BE49-F238E27FC236}">
                <a16:creationId xmlns:a16="http://schemas.microsoft.com/office/drawing/2014/main" id="{12B3CC65-8294-FACC-8276-D6DCC237C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DDBC8CA6-F44B-B32A-3F2F-2795F9A68C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6748285" y="-4544796"/>
            <a:ext cx="17005599" cy="1898368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92016A-B2AB-A8D8-D184-40E82B6F9394}"/>
              </a:ext>
            </a:extLst>
          </p:cNvPr>
          <p:cNvSpPr txBox="1"/>
          <p:nvPr/>
        </p:nvSpPr>
        <p:spPr>
          <a:xfrm>
            <a:off x="1053432" y="4299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EBA88718-F02A-8E9C-3122-C7ADD305F5AB}"/>
              </a:ext>
            </a:extLst>
          </p:cNvPr>
          <p:cNvSpPr txBox="1">
            <a:spLocks/>
          </p:cNvSpPr>
          <p:nvPr/>
        </p:nvSpPr>
        <p:spPr>
          <a:xfrm>
            <a:off x="9360877" y="119277"/>
            <a:ext cx="2318900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3B01D8DD-2C69-7F91-6DF4-829AB2644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21262" y="322217"/>
            <a:ext cx="3513290" cy="56042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1586D70-36B2-A67A-D396-39B3F8D84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pic>
        <p:nvPicPr>
          <p:cNvPr id="19" name="図 18" descr="アリの生態にみる自己組織化のルール：自己組織化プロジェクトの育て方（2）（2/3 ページ） - ＠IT 情報マネジメント">
            <a:extLst>
              <a:ext uri="{FF2B5EF4-FFF2-40B4-BE49-F238E27FC236}">
                <a16:creationId xmlns:a16="http://schemas.microsoft.com/office/drawing/2014/main" id="{730B7E78-C0B1-832D-CA49-6DD0F35844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908" y="939719"/>
            <a:ext cx="5263741" cy="2556674"/>
          </a:xfrm>
          <a:prstGeom prst="roundRect">
            <a:avLst>
              <a:gd name="adj" fmla="val 6944"/>
            </a:avLst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262A235-DFCB-FAB0-2387-EC0477DF8B14}"/>
              </a:ext>
            </a:extLst>
          </p:cNvPr>
          <p:cNvSpPr txBox="1"/>
          <p:nvPr/>
        </p:nvSpPr>
        <p:spPr>
          <a:xfrm>
            <a:off x="5401621" y="6535783"/>
            <a:ext cx="6956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イラスト参照元　：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https://www.itmedia.co.jp/im/articles/0602/15/news109_2.html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347E1437-6CDC-50D8-3E1C-4FEEA718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234" y="1418713"/>
            <a:ext cx="5263741" cy="159868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SzPct val="120000"/>
              <a:buBlip>
                <a:blip r:embed="rId7"/>
              </a:buBlip>
            </a:pP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道中にフェロモンを落とす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buBlip>
                <a:blip r:embed="rId7"/>
              </a:buBlip>
            </a:pP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働きアリはエサ場から巣に戻るまで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フェロモンを落とす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2" name="図 21" descr="アリの生態にみる自己組織化のルール：自己組織化プロジェクトの育て方（2）（2/3 ページ） - ＠IT 情報マネジメント">
            <a:extLst>
              <a:ext uri="{FF2B5EF4-FFF2-40B4-BE49-F238E27FC236}">
                <a16:creationId xmlns:a16="http://schemas.microsoft.com/office/drawing/2014/main" id="{BC043249-214E-F7BD-2AEE-0E4F54C394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6198" y="3545120"/>
            <a:ext cx="4667250" cy="2952750"/>
          </a:xfrm>
          <a:prstGeom prst="roundRect">
            <a:avLst>
              <a:gd name="adj" fmla="val 5387"/>
            </a:avLst>
          </a:prstGeom>
        </p:spPr>
      </p:pic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03D9D431-9E86-CA34-B2B8-C0A5C1BC31EC}"/>
              </a:ext>
            </a:extLst>
          </p:cNvPr>
          <p:cNvSpPr txBox="1">
            <a:spLocks/>
          </p:cNvSpPr>
          <p:nvPr/>
        </p:nvSpPr>
        <p:spPr>
          <a:xfrm>
            <a:off x="399672" y="4377854"/>
            <a:ext cx="5807348" cy="1598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20000"/>
              <a:buFont typeface="Arial" panose="020B0604020202020204" pitchFamily="34" charset="0"/>
              <a:buBlip>
                <a:blip r:embed="rId7"/>
              </a:buBlip>
            </a:pP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フェロモンを頼りにエサを運ぶ</a:t>
            </a: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ja-JP" sz="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他の働きアリはフェロモンを頼りにエサ場まで行き、帰巣する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EEBC7D18-DB65-2766-6038-C5EA6BFD2A3E}"/>
              </a:ext>
            </a:extLst>
          </p:cNvPr>
          <p:cNvSpPr txBox="1">
            <a:spLocks/>
          </p:cNvSpPr>
          <p:nvPr/>
        </p:nvSpPr>
        <p:spPr>
          <a:xfrm>
            <a:off x="78713" y="189647"/>
            <a:ext cx="4188488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働きアリのロジックについて</a:t>
            </a:r>
          </a:p>
        </p:txBody>
      </p:sp>
    </p:spTree>
    <p:extLst>
      <p:ext uri="{BB962C8B-B14F-4D97-AF65-F5344CB8AC3E}">
        <p14:creationId xmlns:p14="http://schemas.microsoft.com/office/powerpoint/2010/main" val="355554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826C-C9D0-7E4B-1854-FD97BDDF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FEF00EEE-A862-D944-DFCD-F2C93C9F6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4848432-2295-409F-6B7E-E6F05C99E8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6528547" y="-3925447"/>
            <a:ext cx="17005599" cy="1898368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E8B16D-E457-2654-C13D-57E1C6ABFEFF}"/>
              </a:ext>
            </a:extLst>
          </p:cNvPr>
          <p:cNvSpPr txBox="1"/>
          <p:nvPr/>
        </p:nvSpPr>
        <p:spPr>
          <a:xfrm>
            <a:off x="1053432" y="4299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B1A7AD3-ABA8-7F3E-32F7-48A289144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pic>
        <p:nvPicPr>
          <p:cNvPr id="19" name="図 18" descr="アリの生態にみる自己組織化のルール：自己組織化プロジェクトの育て方（2）（2/3 ページ） - ＠IT 情報マネジメント">
            <a:extLst>
              <a:ext uri="{FF2B5EF4-FFF2-40B4-BE49-F238E27FC236}">
                <a16:creationId xmlns:a16="http://schemas.microsoft.com/office/drawing/2014/main" id="{0B9D9ABE-43EB-FF2B-109A-D35FFA481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08" y="939719"/>
            <a:ext cx="5263741" cy="2556674"/>
          </a:xfrm>
          <a:prstGeom prst="roundRect">
            <a:avLst>
              <a:gd name="adj" fmla="val 6944"/>
            </a:avLst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95C8645-E1FD-39F6-77A6-248D54E9BD30}"/>
              </a:ext>
            </a:extLst>
          </p:cNvPr>
          <p:cNvSpPr txBox="1"/>
          <p:nvPr/>
        </p:nvSpPr>
        <p:spPr>
          <a:xfrm>
            <a:off x="5401621" y="6535783"/>
            <a:ext cx="6956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イラスト参照元　：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https://www.itmedia.co.jp/im/articles/0602/15/news109_2.html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D9F5AB66-7B7A-11FE-96B5-9156C11D1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234" y="1418713"/>
            <a:ext cx="5263741" cy="159868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SzPct val="120000"/>
              <a:buBlip>
                <a:blip r:embed="rId6"/>
              </a:buBlip>
            </a:pP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道中にフェロモンを落とす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buBlip>
                <a:blip r:embed="rId6"/>
              </a:buBlip>
            </a:pP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働きアリはエサ場から巣に戻るまで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フェロモンを落とす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2" name="図 21" descr="アリの生態にみる自己組織化のルール：自己組織化プロジェクトの育て方（2）（2/3 ページ） - ＠IT 情報マネジメント">
            <a:extLst>
              <a:ext uri="{FF2B5EF4-FFF2-40B4-BE49-F238E27FC236}">
                <a16:creationId xmlns:a16="http://schemas.microsoft.com/office/drawing/2014/main" id="{65198CBE-7225-CEAE-E5C9-7515983319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6198" y="3545120"/>
            <a:ext cx="4667250" cy="2952750"/>
          </a:xfrm>
          <a:prstGeom prst="roundRect">
            <a:avLst>
              <a:gd name="adj" fmla="val 5387"/>
            </a:avLst>
          </a:prstGeom>
        </p:spPr>
      </p:pic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767F5769-0977-8CC0-0CB1-D2F00A34E2F8}"/>
              </a:ext>
            </a:extLst>
          </p:cNvPr>
          <p:cNvSpPr txBox="1">
            <a:spLocks/>
          </p:cNvSpPr>
          <p:nvPr/>
        </p:nvSpPr>
        <p:spPr>
          <a:xfrm>
            <a:off x="399672" y="4377854"/>
            <a:ext cx="5807348" cy="1598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20000"/>
              <a:buFont typeface="Arial" panose="020B0604020202020204" pitchFamily="34" charset="0"/>
              <a:buBlip>
                <a:blip r:embed="rId6"/>
              </a:buBlip>
            </a:pP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フェロモンを頼りにエサを運ぶ</a:t>
            </a: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ja-JP" sz="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他の働きアリはフェロモンを頼りにエサ場まで行き、帰巣する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AEBC8E1-1858-2F8F-2786-2242D62FF047}"/>
              </a:ext>
            </a:extLst>
          </p:cNvPr>
          <p:cNvSpPr/>
          <p:nvPr/>
        </p:nvSpPr>
        <p:spPr>
          <a:xfrm>
            <a:off x="1365847" y="4159020"/>
            <a:ext cx="9921923" cy="2173541"/>
          </a:xfrm>
          <a:prstGeom prst="roundRect">
            <a:avLst>
              <a:gd name="adj" fmla="val 1603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b="1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分散型システム</a:t>
            </a:r>
            <a:r>
              <a:rPr lang="ja-JP" altLang="en-US" sz="44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36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の構築</a:t>
            </a:r>
            <a:endParaRPr lang="en-US" altLang="ja-JP" sz="4400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lang="en-US" altLang="ja-JP" sz="1000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3600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突然の障害物への </a:t>
            </a:r>
            <a:r>
              <a:rPr lang="ja-JP" altLang="en-US" sz="4400" b="1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柔軟な対応</a:t>
            </a:r>
            <a:endParaRPr kumimoji="1" lang="ja-JP" altLang="en-US" sz="4400" b="1" dirty="0">
              <a:solidFill>
                <a:srgbClr val="0070C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DD61FA-31E2-2347-927D-27F22AF66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33647" y="2966267"/>
            <a:ext cx="2600127" cy="2600127"/>
          </a:xfrm>
          <a:prstGeom prst="rect">
            <a:avLst/>
          </a:prstGeom>
        </p:spPr>
      </p:pic>
      <p:sp>
        <p:nvSpPr>
          <p:cNvPr id="25" name="タイトル 1">
            <a:extLst>
              <a:ext uri="{FF2B5EF4-FFF2-40B4-BE49-F238E27FC236}">
                <a16:creationId xmlns:a16="http://schemas.microsoft.com/office/drawing/2014/main" id="{D94BED03-25EE-C8D5-BE2D-0C4656BF95E9}"/>
              </a:ext>
            </a:extLst>
          </p:cNvPr>
          <p:cNvSpPr txBox="1">
            <a:spLocks/>
          </p:cNvSpPr>
          <p:nvPr/>
        </p:nvSpPr>
        <p:spPr>
          <a:xfrm>
            <a:off x="9360877" y="119277"/>
            <a:ext cx="2318900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C51CDCDE-F9F5-9DA4-5D04-778025F23A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921262" y="322217"/>
            <a:ext cx="3513290" cy="560426"/>
          </a:xfrm>
          <a:prstGeom prst="rect">
            <a:avLst/>
          </a:prstGeom>
        </p:spPr>
      </p:pic>
      <p:sp>
        <p:nvSpPr>
          <p:cNvPr id="29" name="タイトル 1">
            <a:extLst>
              <a:ext uri="{FF2B5EF4-FFF2-40B4-BE49-F238E27FC236}">
                <a16:creationId xmlns:a16="http://schemas.microsoft.com/office/drawing/2014/main" id="{B7578852-9B31-7B70-3DE0-F289C65200FF}"/>
              </a:ext>
            </a:extLst>
          </p:cNvPr>
          <p:cNvSpPr txBox="1">
            <a:spLocks/>
          </p:cNvSpPr>
          <p:nvPr/>
        </p:nvSpPr>
        <p:spPr>
          <a:xfrm>
            <a:off x="78713" y="189647"/>
            <a:ext cx="4188488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働きアリのロジックについて</a:t>
            </a:r>
          </a:p>
        </p:txBody>
      </p:sp>
    </p:spTree>
    <p:extLst>
      <p:ext uri="{BB962C8B-B14F-4D97-AF65-F5344CB8AC3E}">
        <p14:creationId xmlns:p14="http://schemas.microsoft.com/office/powerpoint/2010/main" val="196968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FF070FDD-D11B-6A93-DF82-761C9CEBF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F359C8C0-4861-FD67-6B1A-52031DC7EA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5846758" y="-4055017"/>
            <a:ext cx="17005599" cy="18983681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4F9482D-3C39-A456-31F0-0E467AA098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35" y="705313"/>
            <a:ext cx="9229031" cy="6152687"/>
          </a:xfrm>
          <a:prstGeom prst="roundRect">
            <a:avLst>
              <a:gd name="adj" fmla="val 1568"/>
            </a:avLst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DF6F14E-FC24-B0BE-A2D6-3039273CE88B}"/>
              </a:ext>
            </a:extLst>
          </p:cNvPr>
          <p:cNvGrpSpPr/>
          <p:nvPr/>
        </p:nvGrpSpPr>
        <p:grpSpPr>
          <a:xfrm>
            <a:off x="10684845" y="1613134"/>
            <a:ext cx="1190244" cy="4101866"/>
            <a:chOff x="10111872" y="1484964"/>
            <a:chExt cx="773286" cy="2974741"/>
          </a:xfrm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19991D1E-2A2C-8B29-A151-7C8EC5580D35}"/>
                </a:ext>
              </a:extLst>
            </p:cNvPr>
            <p:cNvSpPr/>
            <p:nvPr/>
          </p:nvSpPr>
          <p:spPr>
            <a:xfrm>
              <a:off x="10111872" y="1484964"/>
              <a:ext cx="773286" cy="29747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EE642170-712A-4CB4-014E-AB5E72EA7423}"/>
                </a:ext>
              </a:extLst>
            </p:cNvPr>
            <p:cNvSpPr txBox="1"/>
            <p:nvPr/>
          </p:nvSpPr>
          <p:spPr>
            <a:xfrm>
              <a:off x="10258564" y="2407868"/>
              <a:ext cx="479900" cy="197207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この画像をゆっくり確認したい方はこちら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pic>
        <p:nvPicPr>
          <p:cNvPr id="15" name="図 14">
            <a:extLst>
              <a:ext uri="{FF2B5EF4-FFF2-40B4-BE49-F238E27FC236}">
                <a16:creationId xmlns:a16="http://schemas.microsoft.com/office/drawing/2014/main" id="{73DBE98A-E5D5-6C53-AFF8-9D0AEAA05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1695" y="1701158"/>
            <a:ext cx="1096543" cy="1096543"/>
          </a:xfrm>
          <a:prstGeom prst="roundRect">
            <a:avLst>
              <a:gd name="adj" fmla="val 10140"/>
            </a:avLst>
          </a:prstGeom>
        </p:spPr>
      </p:pic>
      <p:sp>
        <p:nvSpPr>
          <p:cNvPr id="16" name="タイトル 1">
            <a:extLst>
              <a:ext uri="{FF2B5EF4-FFF2-40B4-BE49-F238E27FC236}">
                <a16:creationId xmlns:a16="http://schemas.microsoft.com/office/drawing/2014/main" id="{0E3CF4AD-1AEC-0CE0-DF8D-00148A93B093}"/>
              </a:ext>
            </a:extLst>
          </p:cNvPr>
          <p:cNvSpPr txBox="1">
            <a:spLocks/>
          </p:cNvSpPr>
          <p:nvPr/>
        </p:nvSpPr>
        <p:spPr>
          <a:xfrm>
            <a:off x="3784768" y="119277"/>
            <a:ext cx="7895009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～低コストで実現するアプローチ方法 ～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63514D5-1C93-B6E0-37A2-57A0CB3C2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CD06D1C-5B49-5610-B028-9BF1109DB2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39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BEE9-9030-8528-1442-5E76C61F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255FBF4-B35A-433F-2AA5-175B006F6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327592F5-2A30-EE79-8C64-48A6078D4B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4818520" y="-3855776"/>
            <a:ext cx="17005599" cy="1898368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CB06CD-4062-4515-2BEC-A29734D50843}"/>
              </a:ext>
            </a:extLst>
          </p:cNvPr>
          <p:cNvSpPr txBox="1"/>
          <p:nvPr/>
        </p:nvSpPr>
        <p:spPr>
          <a:xfrm>
            <a:off x="1053432" y="4299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CA29155E-BAE2-92E2-BFFD-16A38D456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6BF36C7E-3546-ED21-60F3-8589BFF2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576" y="1418713"/>
            <a:ext cx="5491399" cy="20102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20000"/>
              <a:buBlip>
                <a:blip r:embed="rId5"/>
              </a:buBlip>
            </a:pP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の中からリーダーを選出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buBlip>
                <a:blip r:embed="rId5"/>
              </a:buBlip>
            </a:pPr>
            <a:endParaRPr lang="en-US" altLang="ja-JP" sz="9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バッテリー残量やロボットの状態管理から、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内でリーダーを選出する。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B182DC80-DFC8-D71C-0051-AC06E6FBB8A1}"/>
              </a:ext>
            </a:extLst>
          </p:cNvPr>
          <p:cNvSpPr txBox="1">
            <a:spLocks/>
          </p:cNvSpPr>
          <p:nvPr/>
        </p:nvSpPr>
        <p:spPr>
          <a:xfrm>
            <a:off x="399672" y="4377854"/>
            <a:ext cx="5807348" cy="2095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20000"/>
              <a:buFont typeface="Arial" panose="020B0604020202020204" pitchFamily="34" charset="0"/>
              <a:buBlip>
                <a:blip r:embed="rId5"/>
              </a:buBlip>
            </a:pP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リーダーが配送指示をフェロモンで共有</a:t>
            </a:r>
            <a:endParaRPr lang="en-US" altLang="ja-JP" sz="8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配送指示を受け取ったリーダー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が、フェロモンに引力を持たせる通信を発生させ、引力で集まった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が配送。</a:t>
            </a:r>
            <a:endParaRPr lang="en-US" altLang="ja-JP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1DA5FFA-0362-F0A5-B38C-01BC22B6AA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425" y="809238"/>
            <a:ext cx="4776126" cy="3184084"/>
          </a:xfrm>
          <a:prstGeom prst="roundRect">
            <a:avLst>
              <a:gd name="adj" fmla="val 3473"/>
            </a:avLst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781C83D-C96B-9BD8-9A09-3C9F3B11B1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7212" y="4159020"/>
            <a:ext cx="3628584" cy="2419056"/>
          </a:xfrm>
          <a:prstGeom prst="roundRect">
            <a:avLst>
              <a:gd name="adj" fmla="val 3952"/>
            </a:avLst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D012529-5BC1-760B-909F-D9E32BD811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921262" y="322217"/>
            <a:ext cx="3513290" cy="560426"/>
          </a:xfrm>
          <a:prstGeom prst="rect">
            <a:avLst/>
          </a:prstGeom>
        </p:spPr>
      </p:pic>
      <p:sp>
        <p:nvSpPr>
          <p:cNvPr id="25" name="タイトル 1">
            <a:extLst>
              <a:ext uri="{FF2B5EF4-FFF2-40B4-BE49-F238E27FC236}">
                <a16:creationId xmlns:a16="http://schemas.microsoft.com/office/drawing/2014/main" id="{AB4739BF-80E3-3B1E-9B0E-A773454AAC0F}"/>
              </a:ext>
            </a:extLst>
          </p:cNvPr>
          <p:cNvSpPr txBox="1">
            <a:spLocks/>
          </p:cNvSpPr>
          <p:nvPr/>
        </p:nvSpPr>
        <p:spPr>
          <a:xfrm>
            <a:off x="9360877" y="119277"/>
            <a:ext cx="2318900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</a:t>
            </a:r>
          </a:p>
        </p:txBody>
      </p:sp>
      <p:sp>
        <p:nvSpPr>
          <p:cNvPr id="28" name="タイトル 1">
            <a:extLst>
              <a:ext uri="{FF2B5EF4-FFF2-40B4-BE49-F238E27FC236}">
                <a16:creationId xmlns:a16="http://schemas.microsoft.com/office/drawing/2014/main" id="{7EB9C282-09A3-2264-3224-7A9DB8AAE8C5}"/>
              </a:ext>
            </a:extLst>
          </p:cNvPr>
          <p:cNvSpPr txBox="1">
            <a:spLocks/>
          </p:cNvSpPr>
          <p:nvPr/>
        </p:nvSpPr>
        <p:spPr>
          <a:xfrm>
            <a:off x="78712" y="189647"/>
            <a:ext cx="5807348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Q.</a:t>
            </a:r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実業務での配送指示は誰がするのか？</a:t>
            </a:r>
          </a:p>
        </p:txBody>
      </p:sp>
    </p:spTree>
    <p:extLst>
      <p:ext uri="{BB962C8B-B14F-4D97-AF65-F5344CB8AC3E}">
        <p14:creationId xmlns:p14="http://schemas.microsoft.com/office/powerpoint/2010/main" val="176187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8311A9D5-57E3-7D91-A2C1-B022E2224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F972A2B0-AD27-13E0-9E29-8FDF2753A5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5846758" y="-4055017"/>
            <a:ext cx="17005599" cy="1898368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7E3242D-8DC7-48F5-C80D-FDC8918B41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17" y="756324"/>
            <a:ext cx="9144252" cy="6096168"/>
          </a:xfrm>
          <a:prstGeom prst="roundRect">
            <a:avLst>
              <a:gd name="adj" fmla="val 1391"/>
            </a:avLst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178E8A0-E6A5-012C-D529-30DF96CAD3C0}"/>
              </a:ext>
            </a:extLst>
          </p:cNvPr>
          <p:cNvGrpSpPr/>
          <p:nvPr/>
        </p:nvGrpSpPr>
        <p:grpSpPr>
          <a:xfrm>
            <a:off x="10684845" y="1613134"/>
            <a:ext cx="1190244" cy="4101866"/>
            <a:chOff x="10111872" y="1484964"/>
            <a:chExt cx="773286" cy="2974741"/>
          </a:xfrm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5FB8B065-F57F-94A6-9B29-CE0603E587D8}"/>
                </a:ext>
              </a:extLst>
            </p:cNvPr>
            <p:cNvSpPr/>
            <p:nvPr/>
          </p:nvSpPr>
          <p:spPr>
            <a:xfrm>
              <a:off x="10111872" y="1484964"/>
              <a:ext cx="773286" cy="297474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990FE3B0-3F54-F0AA-12BB-A394EAD99CE3}"/>
                </a:ext>
              </a:extLst>
            </p:cNvPr>
            <p:cNvSpPr txBox="1"/>
            <p:nvPr/>
          </p:nvSpPr>
          <p:spPr>
            <a:xfrm>
              <a:off x="10258564" y="2407868"/>
              <a:ext cx="479900" cy="197207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この画像をゆっくり確認したい方はこちら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pic>
        <p:nvPicPr>
          <p:cNvPr id="14" name="図 13">
            <a:extLst>
              <a:ext uri="{FF2B5EF4-FFF2-40B4-BE49-F238E27FC236}">
                <a16:creationId xmlns:a16="http://schemas.microsoft.com/office/drawing/2014/main" id="{8D8FD4F7-CE4D-F128-EB5C-47ED57822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1695" y="1701158"/>
            <a:ext cx="1096543" cy="1096543"/>
          </a:xfrm>
          <a:prstGeom prst="roundRect">
            <a:avLst>
              <a:gd name="adj" fmla="val 10140"/>
            </a:avLst>
          </a:prstGeom>
        </p:spPr>
      </p:pic>
      <p:sp>
        <p:nvSpPr>
          <p:cNvPr id="15" name="タイトル 1">
            <a:extLst>
              <a:ext uri="{FF2B5EF4-FFF2-40B4-BE49-F238E27FC236}">
                <a16:creationId xmlns:a16="http://schemas.microsoft.com/office/drawing/2014/main" id="{7BB3C273-AA94-777E-2D01-F3C4456D53B5}"/>
              </a:ext>
            </a:extLst>
          </p:cNvPr>
          <p:cNvSpPr txBox="1">
            <a:spLocks/>
          </p:cNvSpPr>
          <p:nvPr/>
        </p:nvSpPr>
        <p:spPr>
          <a:xfrm>
            <a:off x="3784768" y="119277"/>
            <a:ext cx="7895009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２．研究内容 ～低コストで実現するアプローチ方法 ～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DD1527AB-C656-A9E3-97CC-49F1FF71AE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57203" y="322217"/>
            <a:ext cx="5277349" cy="560426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3432EBB0-195E-DBD0-20BB-9F76567BDD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13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E790D-EF89-6C05-6B0B-A93084F2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A3DD8EFC-A7E9-418E-5AFF-51D844D3D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2" name="図 1" descr="線のイラスト - 手書きのアナログ感のあるフリー素材 - チコデザ">
            <a:extLst>
              <a:ext uri="{FF2B5EF4-FFF2-40B4-BE49-F238E27FC236}">
                <a16:creationId xmlns:a16="http://schemas.microsoft.com/office/drawing/2014/main" id="{72650FE2-9CB5-67F0-F7B7-035BE4FC9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028" y="4145105"/>
            <a:ext cx="3574949" cy="5112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C21B7E-9B7F-DC45-2FDB-FAB6FA69AD4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E2746619-9A61-3FBA-F5E0-0A6F35881DB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B79E228A-8839-EE55-EAC5-8BF7D57C7BE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5000"/>
          </a:blip>
          <a:srcRect/>
          <a:stretch>
            <a:fillRect/>
          </a:stretch>
        </p:blipFill>
        <p:spPr>
          <a:xfrm rot="14400880">
            <a:off x="-2896988" y="-1002021"/>
            <a:ext cx="5793977" cy="589544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756BDFF-7CD2-C14C-EBD4-86635AF386E0}"/>
              </a:ext>
            </a:extLst>
          </p:cNvPr>
          <p:cNvSpPr txBox="1"/>
          <p:nvPr/>
        </p:nvSpPr>
        <p:spPr>
          <a:xfrm>
            <a:off x="508672" y="2615624"/>
            <a:ext cx="112816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3</a:t>
            </a:r>
            <a:r>
              <a:rPr kumimoji="1"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．</a:t>
            </a:r>
            <a:r>
              <a:rPr lang="ja-JP" altLang="en-US" sz="6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現在の課題と実演</a:t>
            </a:r>
            <a:endParaRPr kumimoji="1" lang="en-US" altLang="ja-JP" sz="6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endParaRPr kumimoji="1" lang="en-US" altLang="ja-JP" sz="1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/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～ 成果物の進行度を</a:t>
            </a:r>
            <a:r>
              <a:rPr lang="ja-JP" alt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実演</a:t>
            </a:r>
            <a:r>
              <a:rPr lang="ja-JP" altLang="en-US" sz="4000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で紹介 ～</a:t>
            </a:r>
            <a:endParaRPr kumimoji="1" lang="en-US" altLang="ja-JP" sz="4000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A57E84-E019-CDA3-7F83-65F30463165F}"/>
              </a:ext>
            </a:extLst>
          </p:cNvPr>
          <p:cNvSpPr txBox="1"/>
          <p:nvPr/>
        </p:nvSpPr>
        <p:spPr>
          <a:xfrm>
            <a:off x="8452226" y="5106144"/>
            <a:ext cx="3395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できるとこまで</a:t>
            </a:r>
            <a:r>
              <a:rPr kumimoji="1" lang="en-US" altLang="ja-JP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kumimoji="1" lang="ja-JP" altLang="en-US" sz="2800" dirty="0">
              <a:solidFill>
                <a:schemeClr val="accent5">
                  <a:lumMod val="60000"/>
                  <a:lumOff val="40000"/>
                </a:schemeClr>
              </a:solidFill>
              <a:latin typeface="ADLaM Display" panose="02010000000000000000" pitchFamily="2" charset="0"/>
              <a:ea typeface="HGS創英角ﾎﾟｯﾌﾟ体" panose="040B0A00000000000000" pitchFamily="50" charset="-128"/>
              <a:cs typeface="ADLaM Display" panose="02010000000000000000" pitchFamily="2" charset="0"/>
            </a:endParaRPr>
          </a:p>
        </p:txBody>
      </p:sp>
      <p:pic>
        <p:nvPicPr>
          <p:cNvPr id="5" name="図 4" descr="可愛いイラスト無料｜手書き 矢印 黒 左上向き4 | イラストダウンロード">
            <a:extLst>
              <a:ext uri="{FF2B5EF4-FFF2-40B4-BE49-F238E27FC236}">
                <a16:creationId xmlns:a16="http://schemas.microsoft.com/office/drawing/2014/main" id="{C717D650-ABAF-23BB-3842-F058466C2B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24287" y="4656350"/>
            <a:ext cx="1027939" cy="80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6957E64-219C-685C-3F0A-3A5BA48E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DA1EDE7-27C9-B0D0-037B-16E20BA148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4836105" y="-3855776"/>
            <a:ext cx="17005599" cy="1898368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E6C6B29-A5A1-9FE9-3E7C-72095DC026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19" t="23248" r="24348" b="13077"/>
          <a:stretch>
            <a:fillRect/>
          </a:stretch>
        </p:blipFill>
        <p:spPr>
          <a:xfrm>
            <a:off x="2054772" y="1245576"/>
            <a:ext cx="2942492" cy="4366847"/>
          </a:xfrm>
          <a:prstGeom prst="roundRect">
            <a:avLst>
              <a:gd name="adj" fmla="val 4715"/>
            </a:avLst>
          </a:prstGeom>
        </p:spPr>
      </p:pic>
      <p:sp>
        <p:nvSpPr>
          <p:cNvPr id="9" name="タイトル 1">
            <a:extLst>
              <a:ext uri="{FF2B5EF4-FFF2-40B4-BE49-F238E27FC236}">
                <a16:creationId xmlns:a16="http://schemas.microsoft.com/office/drawing/2014/main" id="{BB6CEC51-9065-7E4F-C1BC-604D8A6A749C}"/>
              </a:ext>
            </a:extLst>
          </p:cNvPr>
          <p:cNvSpPr txBox="1">
            <a:spLocks/>
          </p:cNvSpPr>
          <p:nvPr/>
        </p:nvSpPr>
        <p:spPr>
          <a:xfrm>
            <a:off x="2165151" y="5674785"/>
            <a:ext cx="3003085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👆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の下部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B5E157E3-85F1-4A67-0636-2C1D888AA38A}"/>
              </a:ext>
            </a:extLst>
          </p:cNvPr>
          <p:cNvSpPr/>
          <p:nvPr/>
        </p:nvSpPr>
        <p:spPr>
          <a:xfrm>
            <a:off x="2989687" y="2215662"/>
            <a:ext cx="1072662" cy="72683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E9F20FD-80F4-FE4E-FEAE-9D29A5E9549C}"/>
              </a:ext>
            </a:extLst>
          </p:cNvPr>
          <p:cNvCxnSpPr>
            <a:cxnSpLocks/>
          </p:cNvCxnSpPr>
          <p:nvPr/>
        </p:nvCxnSpPr>
        <p:spPr>
          <a:xfrm flipH="1">
            <a:off x="4196862" y="1377462"/>
            <a:ext cx="1441938" cy="10726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タイトル 1">
            <a:extLst>
              <a:ext uri="{FF2B5EF4-FFF2-40B4-BE49-F238E27FC236}">
                <a16:creationId xmlns:a16="http://schemas.microsoft.com/office/drawing/2014/main" id="{61D40859-0CF8-FE32-6738-0B2F5F45F747}"/>
              </a:ext>
            </a:extLst>
          </p:cNvPr>
          <p:cNvSpPr txBox="1">
            <a:spLocks/>
          </p:cNvSpPr>
          <p:nvPr/>
        </p:nvSpPr>
        <p:spPr>
          <a:xfrm>
            <a:off x="5763832" y="779585"/>
            <a:ext cx="3538430" cy="878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落下防止の</a:t>
            </a:r>
            <a:endParaRPr lang="en-US" altLang="ja-JP" sz="2400" dirty="0">
              <a:latin typeface="PMingLiU-ExtB" panose="02020500000000000000" pitchFamily="18" charset="-120"/>
              <a:ea typeface="UD デジタル 教科書体 NP" panose="02020400000000000000" pitchFamily="18" charset="-128"/>
            </a:endParaRPr>
          </a:p>
          <a:p>
            <a:r>
              <a:rPr lang="ja-JP" altLang="en-US" sz="3600" dirty="0">
                <a:solidFill>
                  <a:schemeClr val="accent5">
                    <a:lumMod val="75000"/>
                  </a:schemeClr>
                </a:solidFill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赤外線センサー</a:t>
            </a:r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500A2121-731C-E6A2-B6E6-2E580EB70665}"/>
              </a:ext>
            </a:extLst>
          </p:cNvPr>
          <p:cNvSpPr txBox="1">
            <a:spLocks/>
          </p:cNvSpPr>
          <p:nvPr/>
        </p:nvSpPr>
        <p:spPr>
          <a:xfrm>
            <a:off x="78711" y="189647"/>
            <a:ext cx="5519057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机上から落下してしまう課題について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82C2981D-BADC-96C9-0A11-F261BC6B1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51" y="2450124"/>
            <a:ext cx="6207370" cy="4138246"/>
          </a:xfrm>
          <a:prstGeom prst="roundRect">
            <a:avLst>
              <a:gd name="adj" fmla="val 2358"/>
            </a:avLst>
          </a:prstGeom>
        </p:spPr>
      </p:pic>
    </p:spTree>
    <p:extLst>
      <p:ext uri="{BB962C8B-B14F-4D97-AF65-F5344CB8AC3E}">
        <p14:creationId xmlns:p14="http://schemas.microsoft.com/office/powerpoint/2010/main" val="1238827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42BB9DF-3374-161C-D15A-63BE7F87B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123C8D-7333-7C12-F12D-F2D7A039EA4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4836105" y="-3855776"/>
            <a:ext cx="17005599" cy="1898368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CB7EDD3-1900-BC36-311C-D3F701C12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8475DEA-8E15-46DA-8C54-589B550BC1F0}"/>
              </a:ext>
            </a:extLst>
          </p:cNvPr>
          <p:cNvGrpSpPr/>
          <p:nvPr/>
        </p:nvGrpSpPr>
        <p:grpSpPr>
          <a:xfrm>
            <a:off x="1411391" y="1361645"/>
            <a:ext cx="9717516" cy="4675572"/>
            <a:chOff x="1237242" y="2088838"/>
            <a:chExt cx="9717516" cy="4675572"/>
          </a:xfrm>
        </p:grpSpPr>
        <p:pic>
          <p:nvPicPr>
            <p:cNvPr id="18" name="図 17" descr="Logo de yolo アイコン、ロゴ、シンボル – 無料ダウンロード PNG、SVG">
              <a:extLst>
                <a:ext uri="{FF2B5EF4-FFF2-40B4-BE49-F238E27FC236}">
                  <a16:creationId xmlns:a16="http://schemas.microsoft.com/office/drawing/2014/main" id="{D6E51C04-39AB-9779-9F4A-2E9F19681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/>
          </p:blipFill>
          <p:spPr>
            <a:xfrm>
              <a:off x="1975101" y="2147552"/>
              <a:ext cx="1304925" cy="1304925"/>
            </a:xfrm>
            <a:prstGeom prst="rect">
              <a:avLst/>
            </a:prstGeom>
          </p:spPr>
        </p:pic>
        <p:pic>
          <p:nvPicPr>
            <p:cNvPr id="19" name="図 18" descr="Opencv ロゴ の アイコン">
              <a:extLst>
                <a:ext uri="{FF2B5EF4-FFF2-40B4-BE49-F238E27FC236}">
                  <a16:creationId xmlns:a16="http://schemas.microsoft.com/office/drawing/2014/main" id="{C6EA6A4E-245E-24AC-8E45-A4BAA7A44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37242" y="3573535"/>
              <a:ext cx="2514600" cy="12573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08D99AC7-4319-2E1F-22CD-A47E9565C498}"/>
                </a:ext>
              </a:extLst>
            </p:cNvPr>
            <p:cNvSpPr txBox="1"/>
            <p:nvPr/>
          </p:nvSpPr>
          <p:spPr>
            <a:xfrm>
              <a:off x="4096758" y="3755909"/>
              <a:ext cx="6858000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OpenCV </a:t>
              </a:r>
              <a:r>
                <a:rPr kumimoji="1" lang="ja-JP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オープンシーブイ</a:t>
              </a:r>
              <a:endParaRPr kumimoji="1" lang="en-US" altLang="ja-JP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</a:endParaRPr>
            </a:p>
            <a:p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画像処理や画像解析に活用される</a:t>
              </a: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OSS</a:t>
              </a:r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ライブラリ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DA2C5CA-EB01-4B40-6C55-2398A6A4B218}"/>
                </a:ext>
              </a:extLst>
            </p:cNvPr>
            <p:cNvSpPr txBox="1"/>
            <p:nvPr/>
          </p:nvSpPr>
          <p:spPr>
            <a:xfrm>
              <a:off x="4096755" y="2088838"/>
              <a:ext cx="558377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YOLO </a:t>
              </a:r>
              <a:r>
                <a:rPr lang="ja-JP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ヨロ</a:t>
              </a:r>
              <a:endPara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</a:endParaRPr>
            </a:p>
            <a:p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画像や映像内に「何が」「どこに」あるかを</a:t>
              </a:r>
              <a:endPara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リアルタイムで物体検出する技術</a:t>
              </a:r>
            </a:p>
          </p:txBody>
        </p:sp>
        <p:pic>
          <p:nvPicPr>
            <p:cNvPr id="23" name="図 22" descr="SLAM導入支援サービス - スマートシティ/モビリティ - マクニカ">
              <a:extLst>
                <a:ext uri="{FF2B5EF4-FFF2-40B4-BE49-F238E27FC236}">
                  <a16:creationId xmlns:a16="http://schemas.microsoft.com/office/drawing/2014/main" id="{BF05F62F-7C56-CD8D-A02A-D9ED84467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75064" y="4859410"/>
              <a:ext cx="1905000" cy="1905000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131910D-4982-541D-A1A1-96618572B76F}"/>
                </a:ext>
              </a:extLst>
            </p:cNvPr>
            <p:cNvSpPr txBox="1"/>
            <p:nvPr/>
          </p:nvSpPr>
          <p:spPr>
            <a:xfrm>
              <a:off x="4096755" y="5164751"/>
              <a:ext cx="6725668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SLAM </a:t>
              </a:r>
              <a:r>
                <a:rPr lang="ja-JP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JP Black" panose="020B0200000000000000" pitchFamily="50" charset="-128"/>
                  <a:ea typeface="Noto Sans JP Black" panose="020B0200000000000000" pitchFamily="50" charset="-128"/>
                </a:rPr>
                <a:t>スラム</a:t>
              </a:r>
              <a:endParaRPr lang="en-US" altLang="ja-JP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</a:endParaRPr>
            </a:p>
            <a:p>
              <a:r>
                <a:rPr lang="ja-JP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移動体が自身の「現在位置の推定」と周囲の「環境地図の作成」をリアルタイムで同時に行う技術</a:t>
              </a:r>
              <a:endPara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28" name="タイトル 1">
            <a:extLst>
              <a:ext uri="{FF2B5EF4-FFF2-40B4-BE49-F238E27FC236}">
                <a16:creationId xmlns:a16="http://schemas.microsoft.com/office/drawing/2014/main" id="{2C326F6B-9AEA-A5D2-077D-811457A88D77}"/>
              </a:ext>
            </a:extLst>
          </p:cNvPr>
          <p:cNvSpPr txBox="1">
            <a:spLocks/>
          </p:cNvSpPr>
          <p:nvPr/>
        </p:nvSpPr>
        <p:spPr>
          <a:xfrm>
            <a:off x="78712" y="189647"/>
            <a:ext cx="5807348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使用技術</a:t>
            </a:r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61AB0EA2-1183-BCF5-519D-5BBE7F94C714}"/>
              </a:ext>
            </a:extLst>
          </p:cNvPr>
          <p:cNvSpPr txBox="1">
            <a:spLocks/>
          </p:cNvSpPr>
          <p:nvPr/>
        </p:nvSpPr>
        <p:spPr>
          <a:xfrm>
            <a:off x="88323" y="6283628"/>
            <a:ext cx="3192027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このあと実演予定！</a:t>
            </a:r>
          </a:p>
        </p:txBody>
      </p:sp>
      <p:sp>
        <p:nvSpPr>
          <p:cNvPr id="32" name="タイトル 1">
            <a:extLst>
              <a:ext uri="{FF2B5EF4-FFF2-40B4-BE49-F238E27FC236}">
                <a16:creationId xmlns:a16="http://schemas.microsoft.com/office/drawing/2014/main" id="{DACA99CC-3FD3-6ED0-1AAA-181B39E21F6A}"/>
              </a:ext>
            </a:extLst>
          </p:cNvPr>
          <p:cNvSpPr txBox="1">
            <a:spLocks/>
          </p:cNvSpPr>
          <p:nvPr/>
        </p:nvSpPr>
        <p:spPr>
          <a:xfrm>
            <a:off x="8347274" y="119277"/>
            <a:ext cx="3332503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３．現在の課題と実演</a:t>
            </a: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669B987D-2142-E13F-3A58-57E43F55B6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883769" y="322217"/>
            <a:ext cx="4550783" cy="56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17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79AC6059-1E06-236B-3FE7-3D0E74519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670E98-E5B2-E642-E790-2C5756E00E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5773608" y="-3974811"/>
            <a:ext cx="17005599" cy="18983681"/>
          </a:xfrm>
          <a:prstGeom prst="rect">
            <a:avLst/>
          </a:prstGeom>
        </p:spPr>
      </p:pic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2A9331A-851D-1BB3-EA31-90EC3E34A56C}"/>
              </a:ext>
            </a:extLst>
          </p:cNvPr>
          <p:cNvSpPr/>
          <p:nvPr/>
        </p:nvSpPr>
        <p:spPr>
          <a:xfrm>
            <a:off x="5749848" y="1752460"/>
            <a:ext cx="5929927" cy="594492"/>
          </a:xfrm>
          <a:prstGeom prst="roundRect">
            <a:avLst>
              <a:gd name="adj" fmla="val 4835"/>
            </a:avLst>
          </a:prstGeom>
          <a:solidFill>
            <a:srgbClr val="00B05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76B0A1DC-2CB6-E29B-D8AF-0CFBEA97C176}"/>
              </a:ext>
            </a:extLst>
          </p:cNvPr>
          <p:cNvSpPr/>
          <p:nvPr/>
        </p:nvSpPr>
        <p:spPr>
          <a:xfrm>
            <a:off x="5749848" y="2463594"/>
            <a:ext cx="5929927" cy="1139864"/>
          </a:xfrm>
          <a:prstGeom prst="roundRect">
            <a:avLst>
              <a:gd name="adj" fmla="val 4835"/>
            </a:avLst>
          </a:prstGeom>
          <a:solidFill>
            <a:srgbClr val="FF0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 descr="机 イラスト 上からの検索結果 - Yahoo!きっず検索">
            <a:extLst>
              <a:ext uri="{FF2B5EF4-FFF2-40B4-BE49-F238E27FC236}">
                <a16:creationId xmlns:a16="http://schemas.microsoft.com/office/drawing/2014/main" id="{A86A0EFB-02E5-0124-5CA8-24C39175C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9848" y="1464309"/>
            <a:ext cx="6510754" cy="4876782"/>
          </a:xfrm>
          <a:prstGeom prst="rect">
            <a:avLst/>
          </a:prstGeom>
        </p:spPr>
      </p:pic>
      <p:pic>
        <p:nvPicPr>
          <p:cNvPr id="16" name="図 15" descr="COZMO SDK：Tutorials Basics 09 – しかるのち">
            <a:extLst>
              <a:ext uri="{FF2B5EF4-FFF2-40B4-BE49-F238E27FC236}">
                <a16:creationId xmlns:a16="http://schemas.microsoft.com/office/drawing/2014/main" id="{0E5CD2BA-6A5B-364F-C18F-AF58C3596E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176" t="17919" r="31885" b="32965"/>
          <a:stretch>
            <a:fillRect/>
          </a:stretch>
        </p:blipFill>
        <p:spPr>
          <a:xfrm>
            <a:off x="2162522" y="2555542"/>
            <a:ext cx="566670" cy="674724"/>
          </a:xfrm>
          <a:prstGeom prst="rect">
            <a:avLst/>
          </a:prstGeom>
        </p:spPr>
      </p:pic>
      <p:pic>
        <p:nvPicPr>
          <p:cNvPr id="17" name="図 16" descr="COZMO SDK：Tutorials Basics 09 – しかるのち">
            <a:extLst>
              <a:ext uri="{FF2B5EF4-FFF2-40B4-BE49-F238E27FC236}">
                <a16:creationId xmlns:a16="http://schemas.microsoft.com/office/drawing/2014/main" id="{D40CE474-9AF2-A3A8-0094-0778182696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176" t="17919" r="31885" b="32965"/>
          <a:stretch>
            <a:fillRect/>
          </a:stretch>
        </p:blipFill>
        <p:spPr>
          <a:xfrm>
            <a:off x="4476615" y="2555542"/>
            <a:ext cx="566670" cy="674724"/>
          </a:xfrm>
          <a:prstGeom prst="rect">
            <a:avLst/>
          </a:prstGeom>
        </p:spPr>
      </p:pic>
      <p:pic>
        <p:nvPicPr>
          <p:cNvPr id="18" name="図 17" descr="COZMO SDK：Tutorials Basics 09 – しかるのち">
            <a:extLst>
              <a:ext uri="{FF2B5EF4-FFF2-40B4-BE49-F238E27FC236}">
                <a16:creationId xmlns:a16="http://schemas.microsoft.com/office/drawing/2014/main" id="{01426472-66D5-FEA7-4004-5C35502CA8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176" t="17919" r="31885" b="32965"/>
          <a:stretch>
            <a:fillRect/>
          </a:stretch>
        </p:blipFill>
        <p:spPr>
          <a:xfrm>
            <a:off x="1930975" y="3508448"/>
            <a:ext cx="566670" cy="674724"/>
          </a:xfrm>
          <a:prstGeom prst="rect">
            <a:avLst/>
          </a:prstGeom>
        </p:spPr>
      </p:pic>
      <p:pic>
        <p:nvPicPr>
          <p:cNvPr id="19" name="図 18" descr="COZMO SDK：Tutorials Basics 09 – しかるのち">
            <a:extLst>
              <a:ext uri="{FF2B5EF4-FFF2-40B4-BE49-F238E27FC236}">
                <a16:creationId xmlns:a16="http://schemas.microsoft.com/office/drawing/2014/main" id="{6F3EFC1F-0B79-C2C0-BC3C-3DBCAC9AB8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176" t="17919" r="31885" b="32965"/>
          <a:stretch>
            <a:fillRect/>
          </a:stretch>
        </p:blipFill>
        <p:spPr>
          <a:xfrm>
            <a:off x="4660174" y="3508448"/>
            <a:ext cx="566670" cy="674724"/>
          </a:xfrm>
          <a:prstGeom prst="rect">
            <a:avLst/>
          </a:prstGeom>
        </p:spPr>
      </p:pic>
      <p:sp>
        <p:nvSpPr>
          <p:cNvPr id="21" name="タイトル 1">
            <a:extLst>
              <a:ext uri="{FF2B5EF4-FFF2-40B4-BE49-F238E27FC236}">
                <a16:creationId xmlns:a16="http://schemas.microsoft.com/office/drawing/2014/main" id="{E4483B45-9ABC-7207-A570-C1CA69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ja-JP" altLang="en-US" dirty="0"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落下防止策と現在地補正の恩恵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F3E5817E-2AF3-2520-6B8E-A94C83ACCC96}"/>
              </a:ext>
            </a:extLst>
          </p:cNvPr>
          <p:cNvSpPr/>
          <p:nvPr/>
        </p:nvSpPr>
        <p:spPr>
          <a:xfrm>
            <a:off x="2485293" y="2763374"/>
            <a:ext cx="2427668" cy="77273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61D10839-B353-DC03-64A6-569237F3313B}"/>
              </a:ext>
            </a:extLst>
          </p:cNvPr>
          <p:cNvSpPr/>
          <p:nvPr/>
        </p:nvSpPr>
        <p:spPr>
          <a:xfrm>
            <a:off x="2248228" y="3731198"/>
            <a:ext cx="2795057" cy="86992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E726A76C-63A9-9629-CB5B-1228D53740FE}"/>
              </a:ext>
            </a:extLst>
          </p:cNvPr>
          <p:cNvSpPr/>
          <p:nvPr/>
        </p:nvSpPr>
        <p:spPr>
          <a:xfrm rot="16948766" flipV="1">
            <a:off x="1867267" y="3251419"/>
            <a:ext cx="1054940" cy="687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DEDEE796-D5A0-7066-CEC9-E8A442E4A74E}"/>
              </a:ext>
            </a:extLst>
          </p:cNvPr>
          <p:cNvSpPr/>
          <p:nvPr/>
        </p:nvSpPr>
        <p:spPr>
          <a:xfrm rot="15634743" flipV="1">
            <a:off x="4414360" y="3251605"/>
            <a:ext cx="1052907" cy="74419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図 27" descr="プログラミング学習にオススメ！ 人になついて成長するAIロボ『COZMO（コズモ）』｜KDDI トビラ">
            <a:extLst>
              <a:ext uri="{FF2B5EF4-FFF2-40B4-BE49-F238E27FC236}">
                <a16:creationId xmlns:a16="http://schemas.microsoft.com/office/drawing/2014/main" id="{6546BD60-256F-923B-4D3D-60AC35753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027936" y="2852421"/>
            <a:ext cx="1137826" cy="836776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F9C8A7A8-1271-8AA5-344C-8AE7949156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115" y="4310080"/>
            <a:ext cx="3832896" cy="2168507"/>
          </a:xfrm>
          <a:prstGeom prst="flowChartAlternateProcess">
            <a:avLst/>
          </a:prstGeom>
        </p:spPr>
      </p:pic>
      <p:sp>
        <p:nvSpPr>
          <p:cNvPr id="32" name="タイトル 1">
            <a:extLst>
              <a:ext uri="{FF2B5EF4-FFF2-40B4-BE49-F238E27FC236}">
                <a16:creationId xmlns:a16="http://schemas.microsoft.com/office/drawing/2014/main" id="{C792CB37-03AA-2B6C-BC63-5A7B1FBC9F7E}"/>
              </a:ext>
            </a:extLst>
          </p:cNvPr>
          <p:cNvSpPr txBox="1">
            <a:spLocks/>
          </p:cNvSpPr>
          <p:nvPr/>
        </p:nvSpPr>
        <p:spPr>
          <a:xfrm>
            <a:off x="6921445" y="3695546"/>
            <a:ext cx="3561250" cy="748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PC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画面でのイメージ</a:t>
            </a:r>
          </a:p>
        </p:txBody>
      </p:sp>
      <p:sp>
        <p:nvSpPr>
          <p:cNvPr id="33" name="タイトル 1">
            <a:extLst>
              <a:ext uri="{FF2B5EF4-FFF2-40B4-BE49-F238E27FC236}">
                <a16:creationId xmlns:a16="http://schemas.microsoft.com/office/drawing/2014/main" id="{4D238FFD-B6A4-9B7C-3DA3-F42806F27689}"/>
              </a:ext>
            </a:extLst>
          </p:cNvPr>
          <p:cNvSpPr txBox="1">
            <a:spLocks/>
          </p:cNvSpPr>
          <p:nvPr/>
        </p:nvSpPr>
        <p:spPr>
          <a:xfrm>
            <a:off x="5818349" y="1677210"/>
            <a:ext cx="5791563" cy="20411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SzPct val="120000"/>
              <a:buBlip>
                <a:blip r:embed="rId8"/>
              </a:buBlip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机上からの落下を高確率で防げる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buSzPct val="120000"/>
            </a:pP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>
              <a:buSzPct val="120000"/>
              <a:buBlip>
                <a:blip r:embed="rId8"/>
              </a:buBlip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現在地が明確に分かるようになり、倉庫内の場所を適切に把握し、業務を遂行できる</a:t>
            </a:r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C9EC388F-24EA-11B4-FEF4-0ECB6527AA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266E5816-7BC2-5A9B-0DE9-AD3EE91D1547}"/>
              </a:ext>
            </a:extLst>
          </p:cNvPr>
          <p:cNvSpPr txBox="1">
            <a:spLocks/>
          </p:cNvSpPr>
          <p:nvPr/>
        </p:nvSpPr>
        <p:spPr>
          <a:xfrm>
            <a:off x="8347274" y="119277"/>
            <a:ext cx="3332503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３．現在の課題と実演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0D716B31-D1B1-C2E1-2716-558DE9CA2A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883769" y="322217"/>
            <a:ext cx="4550783" cy="560426"/>
          </a:xfrm>
          <a:prstGeom prst="rect">
            <a:avLst/>
          </a:prstGeom>
        </p:spPr>
      </p:pic>
      <p:sp>
        <p:nvSpPr>
          <p:cNvPr id="29" name="タイトル 1">
            <a:extLst>
              <a:ext uri="{FF2B5EF4-FFF2-40B4-BE49-F238E27FC236}">
                <a16:creationId xmlns:a16="http://schemas.microsoft.com/office/drawing/2014/main" id="{B7B30415-B4EB-1F80-36B7-BB46B1B4C1D6}"/>
              </a:ext>
            </a:extLst>
          </p:cNvPr>
          <p:cNvSpPr txBox="1">
            <a:spLocks/>
          </p:cNvSpPr>
          <p:nvPr/>
        </p:nvSpPr>
        <p:spPr>
          <a:xfrm>
            <a:off x="88323" y="6283628"/>
            <a:ext cx="3192027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このあと実演予定！</a:t>
            </a:r>
          </a:p>
        </p:txBody>
      </p:sp>
      <p:pic>
        <p:nvPicPr>
          <p:cNvPr id="2" name="図 1" descr="ノートパソコンのイラスト | 商用OKの無料イラスト素材サイト ツカッテ">
            <a:extLst>
              <a:ext uri="{FF2B5EF4-FFF2-40B4-BE49-F238E27FC236}">
                <a16:creationId xmlns:a16="http://schemas.microsoft.com/office/drawing/2014/main" id="{18C82A08-A80A-7089-2D11-C1B16C8C46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024" y="4626711"/>
            <a:ext cx="1009353" cy="1009353"/>
          </a:xfrm>
          <a:prstGeom prst="rect">
            <a:avLst/>
          </a:prstGeom>
        </p:spPr>
      </p:pic>
      <p:pic>
        <p:nvPicPr>
          <p:cNvPr id="4" name="図 3" descr="データ通信の白黒シルエット | 無料のAi・PNG白黒シルエットイラスト">
            <a:extLst>
              <a:ext uri="{FF2B5EF4-FFF2-40B4-BE49-F238E27FC236}">
                <a16:creationId xmlns:a16="http://schemas.microsoft.com/office/drawing/2014/main" id="{639CE2F7-407A-D889-ADF3-7FBB7D2C07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 rot="2515570">
            <a:off x="1269553" y="4229678"/>
            <a:ext cx="775591" cy="775591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DF87E3B2-C50C-A97F-9311-41FC3EC6CC6E}"/>
              </a:ext>
            </a:extLst>
          </p:cNvPr>
          <p:cNvSpPr txBox="1">
            <a:spLocks/>
          </p:cNvSpPr>
          <p:nvPr/>
        </p:nvSpPr>
        <p:spPr>
          <a:xfrm>
            <a:off x="435766" y="5569200"/>
            <a:ext cx="3892755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※COZMO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の動作処理は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PC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接続）</a:t>
            </a:r>
            <a:endParaRPr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625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24" grpId="0" animBg="1"/>
      <p:bldP spid="25" grpId="0" animBg="1"/>
      <p:bldP spid="26" grpId="0" animBg="1"/>
      <p:bldP spid="27" grpId="0" animBg="1"/>
      <p:bldP spid="32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CE58E593-0398-12EE-D87D-1696CD0F80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760DADC5-1201-8362-5BC8-455EA2D151E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5000"/>
          </a:blip>
          <a:srcRect/>
          <a:stretch>
            <a:fillRect/>
          </a:stretch>
        </p:blipFill>
        <p:spPr>
          <a:xfrm rot="20174204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B20FA95-20B4-88EF-BDB1-4B5E1B2A4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078"/>
            <a:ext cx="10515600" cy="1325563"/>
          </a:xfrm>
        </p:spPr>
        <p:txBody>
          <a:bodyPr/>
          <a:lstStyle/>
          <a:p>
            <a:r>
              <a:rPr lang="en-US" altLang="ja-JP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A. SD</a:t>
            </a:r>
            <a:r>
              <a:rPr lang="ja-JP" altLang="en-US" dirty="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画質カメラでも機械学習で精度向上</a:t>
            </a:r>
            <a:endParaRPr kumimoji="1" lang="ja-JP" altLang="en-US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pic>
        <p:nvPicPr>
          <p:cNvPr id="4" name="レコーディング 2026-07-01 142903">
            <a:hlinkClick r:id="" action="ppaction://media"/>
            <a:extLst>
              <a:ext uri="{FF2B5EF4-FFF2-40B4-BE49-F238E27FC236}">
                <a16:creationId xmlns:a16="http://schemas.microsoft.com/office/drawing/2014/main" id="{94243E01-2675-5201-1BC8-D09C93DBAD1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05538" y="1907843"/>
            <a:ext cx="5148262" cy="4351338"/>
          </a:xfrm>
        </p:spPr>
      </p:pic>
      <p:pic>
        <p:nvPicPr>
          <p:cNvPr id="12" name="画面録画 2026-06-06 145517">
            <a:hlinkClick r:id="" action="ppaction://media"/>
            <a:extLst>
              <a:ext uri="{FF2B5EF4-FFF2-40B4-BE49-F238E27FC236}">
                <a16:creationId xmlns:a16="http://schemas.microsoft.com/office/drawing/2014/main" id="{C921D2D9-F9E5-2C5F-F225-9C69E3EB7DD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02446" y="1907843"/>
            <a:ext cx="5148262" cy="4344345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C53F8069-7DA0-66CA-1237-87CE0FE01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3125"/>
          <a:stretch>
            <a:fillRect/>
          </a:stretch>
        </p:blipFill>
        <p:spPr>
          <a:xfrm>
            <a:off x="5750708" y="5048396"/>
            <a:ext cx="2170438" cy="1928881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2781054C-4C14-C875-5CC3-20AD179B353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6912"/>
          <a:stretch>
            <a:fillRect/>
          </a:stretch>
        </p:blipFill>
        <p:spPr>
          <a:xfrm>
            <a:off x="0" y="5188215"/>
            <a:ext cx="2203923" cy="1729424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0A0F7F83-6C38-3571-9C6D-D0D15C95E4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19" name="タイトル 1">
            <a:extLst>
              <a:ext uri="{FF2B5EF4-FFF2-40B4-BE49-F238E27FC236}">
                <a16:creationId xmlns:a16="http://schemas.microsoft.com/office/drawing/2014/main" id="{7DCE6D08-D4F0-1621-4372-2874B2AD1798}"/>
              </a:ext>
            </a:extLst>
          </p:cNvPr>
          <p:cNvSpPr txBox="1">
            <a:spLocks/>
          </p:cNvSpPr>
          <p:nvPr/>
        </p:nvSpPr>
        <p:spPr>
          <a:xfrm>
            <a:off x="8347274" y="119277"/>
            <a:ext cx="3332503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３．現在の課題と実演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791B69B-6F2D-8EF5-9DAD-B4A6D78AFD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883769" y="322217"/>
            <a:ext cx="4550783" cy="56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7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9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98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remove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 mute="1">
                <p:cTn id="17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335B21E6-7233-3B60-E932-F65BF8091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B397A9FC-9B85-BF3B-B663-B03C808325A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5000"/>
          </a:blip>
          <a:srcRect/>
          <a:stretch>
            <a:fillRect/>
          </a:stretch>
        </p:blipFill>
        <p:spPr>
          <a:xfrm rot="20174204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274265B-4D96-7588-66AF-39D26861F04D}"/>
              </a:ext>
            </a:extLst>
          </p:cNvPr>
          <p:cNvSpPr/>
          <p:nvPr/>
        </p:nvSpPr>
        <p:spPr>
          <a:xfrm>
            <a:off x="902075" y="6238530"/>
            <a:ext cx="10630283" cy="1139864"/>
          </a:xfrm>
          <a:prstGeom prst="roundRect">
            <a:avLst>
              <a:gd name="adj" fmla="val 50000"/>
            </a:avLst>
          </a:prstGeom>
          <a:solidFill>
            <a:srgbClr val="FF0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1782798353181_original-31507398-0603-4f4f-a557-5497d79d9e08">
            <a:hlinkClick r:id="" action="ppaction://media"/>
            <a:extLst>
              <a:ext uri="{FF2B5EF4-FFF2-40B4-BE49-F238E27FC236}">
                <a16:creationId xmlns:a16="http://schemas.microsoft.com/office/drawing/2014/main" id="{B1496907-9763-9EF4-687B-92E62B2473B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33187.8777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63305" y="1510891"/>
            <a:ext cx="8278243" cy="465686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A7FDB21-1383-5C61-78D2-BA89090826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1437678" y="37109"/>
            <a:ext cx="642594" cy="642594"/>
          </a:xfrm>
          <a:prstGeom prst="rect">
            <a:avLst/>
          </a:prstGeom>
        </p:spPr>
      </p:pic>
      <p:sp>
        <p:nvSpPr>
          <p:cNvPr id="13" name="タイトル 1">
            <a:extLst>
              <a:ext uri="{FF2B5EF4-FFF2-40B4-BE49-F238E27FC236}">
                <a16:creationId xmlns:a16="http://schemas.microsoft.com/office/drawing/2014/main" id="{609217AC-1764-9077-7E13-27FD98DDBD88}"/>
              </a:ext>
            </a:extLst>
          </p:cNvPr>
          <p:cNvSpPr txBox="1">
            <a:spLocks/>
          </p:cNvSpPr>
          <p:nvPr/>
        </p:nvSpPr>
        <p:spPr>
          <a:xfrm>
            <a:off x="902075" y="602430"/>
            <a:ext cx="10515600" cy="8026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障害物回避も徐々に</a:t>
            </a:r>
            <a:r>
              <a:rPr lang="en-US" altLang="ja-JP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…</a:t>
            </a: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D81E3DFE-596B-2658-81AE-D0A9C7DE135E}"/>
              </a:ext>
            </a:extLst>
          </p:cNvPr>
          <p:cNvSpPr txBox="1">
            <a:spLocks/>
          </p:cNvSpPr>
          <p:nvPr/>
        </p:nvSpPr>
        <p:spPr>
          <a:xfrm>
            <a:off x="1120012" y="6186972"/>
            <a:ext cx="10079725" cy="621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SzPct val="120000"/>
              <a:buBlip>
                <a:blip r:embed="rId9"/>
              </a:buBlip>
            </a:pP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COZMO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の台数や障害物も徐々に増えるため、</a:t>
            </a:r>
            <a:r>
              <a:rPr lang="ja-JP" alt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インパクトも増す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見込み</a:t>
            </a:r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4D373758-2021-9C37-E30D-72D02D3DB08D}"/>
              </a:ext>
            </a:extLst>
          </p:cNvPr>
          <p:cNvSpPr txBox="1">
            <a:spLocks/>
          </p:cNvSpPr>
          <p:nvPr/>
        </p:nvSpPr>
        <p:spPr>
          <a:xfrm>
            <a:off x="8347274" y="119277"/>
            <a:ext cx="3332503" cy="5604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dirty="0">
                <a:latin typeface="PMingLiU-ExtB" panose="02020500000000000000" pitchFamily="18" charset="-120"/>
                <a:ea typeface="UD デジタル 教科書体 NP" panose="02020400000000000000" pitchFamily="18" charset="-128"/>
              </a:rPr>
              <a:t>３．現在の課題と実演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B770E985-07AA-3FB1-0089-F7D229D1C1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883769" y="322217"/>
            <a:ext cx="4550783" cy="56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5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3379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7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15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06CFD1D-ED93-59E3-157F-0A4095933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8" y="0"/>
            <a:ext cx="1221454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A5EC2D-204F-4732-976A-1A2F827AB3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20174204">
            <a:off x="-1571312" y="-3694790"/>
            <a:ext cx="17005599" cy="1898368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4A6BCA6-129A-14F9-3D09-668F4C221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1" cy="6858000"/>
          </a:xfrm>
          <a:prstGeom prst="rect">
            <a:avLst/>
          </a:prstGeom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B2FB02C9-DA76-86F2-E6A2-73E404503F1B}"/>
              </a:ext>
            </a:extLst>
          </p:cNvPr>
          <p:cNvSpPr txBox="1">
            <a:spLocks/>
          </p:cNvSpPr>
          <p:nvPr/>
        </p:nvSpPr>
        <p:spPr>
          <a:xfrm>
            <a:off x="10685798" y="221703"/>
            <a:ext cx="894931" cy="2608265"/>
          </a:xfrm>
          <a:prstGeom prst="rect">
            <a:avLst/>
          </a:prstGeom>
        </p:spPr>
        <p:txBody>
          <a:bodyPr vert="eaVer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４．質疑応答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3FC08C28-0959-3275-C798-0210738F674E}"/>
              </a:ext>
            </a:extLst>
          </p:cNvPr>
          <p:cNvSpPr/>
          <p:nvPr/>
        </p:nvSpPr>
        <p:spPr>
          <a:xfrm>
            <a:off x="9026833" y="5964267"/>
            <a:ext cx="3031810" cy="8213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CDBBC86-A5F8-F9FE-C543-2BE8C20DA669}"/>
              </a:ext>
            </a:extLst>
          </p:cNvPr>
          <p:cNvSpPr txBox="1"/>
          <p:nvPr/>
        </p:nvSpPr>
        <p:spPr>
          <a:xfrm>
            <a:off x="8920044" y="6050481"/>
            <a:ext cx="231599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これまでの詳細資料はこちら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97A6B86D-EBAE-ECB0-0D9E-BD30C2FA7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296" y="6004315"/>
            <a:ext cx="738664" cy="738664"/>
          </a:xfrm>
          <a:prstGeom prst="roundRect">
            <a:avLst>
              <a:gd name="adj" fmla="val 10140"/>
            </a:avLst>
          </a:prstGeom>
        </p:spPr>
      </p:pic>
    </p:spTree>
    <p:extLst>
      <p:ext uri="{BB962C8B-B14F-4D97-AF65-F5344CB8AC3E}">
        <p14:creationId xmlns:p14="http://schemas.microsoft.com/office/powerpoint/2010/main" val="2502095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1037</Words>
  <Application>Microsoft Office PowerPoint</Application>
  <PresentationFormat>ワイド画面</PresentationFormat>
  <Paragraphs>137</Paragraphs>
  <Slides>17</Slides>
  <Notes>6</Notes>
  <HiddenSlides>3</HiddenSlides>
  <MMClips>3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9" baseType="lpstr">
      <vt:lpstr>BIZ UDPゴシック</vt:lpstr>
      <vt:lpstr>HGS創英角ﾎﾟｯﾌﾟ体</vt:lpstr>
      <vt:lpstr>Noto Sans JP Black</vt:lpstr>
      <vt:lpstr>PMingLiU-ExtB</vt:lpstr>
      <vt:lpstr>UD デジタル 教科書体 NK</vt:lpstr>
      <vt:lpstr>UD デジタル 教科書体 NP</vt:lpstr>
      <vt:lpstr>Zen Kaku Gothic New</vt:lpstr>
      <vt:lpstr>游ゴシック</vt:lpstr>
      <vt:lpstr>游ゴシック Light</vt:lpstr>
      <vt:lpstr>ADLaM Display</vt:lpstr>
      <vt:lpstr>Arial</vt:lpstr>
      <vt:lpstr>Office テーマ</vt:lpstr>
      <vt:lpstr>PowerPoint プレゼンテーション</vt:lpstr>
      <vt:lpstr>１．なぜこの研究を行うのか？</vt:lpstr>
      <vt:lpstr>Q. 人手不足は深刻化しているのか</vt:lpstr>
      <vt:lpstr>既存ロボット「AMR」にも課題多し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落下防止策と現在地補正の恩恵</vt:lpstr>
      <vt:lpstr>A. SD画質カメラでも機械学習で精度向上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YUSEI IIDA</dc:creator>
  <cp:lastModifiedBy>YUSEI IIDA</cp:lastModifiedBy>
  <cp:revision>72</cp:revision>
  <dcterms:created xsi:type="dcterms:W3CDTF">2026-06-29T03:36:48Z</dcterms:created>
  <dcterms:modified xsi:type="dcterms:W3CDTF">2026-07-17T02:49:56Z</dcterms:modified>
</cp:coreProperties>
</file>